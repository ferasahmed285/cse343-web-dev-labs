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73" r:id="rId8"/>
    <p:sldId id="274" r:id="rId9"/>
    <p:sldId id="275" r:id="rId10"/>
    <p:sldId id="276" r:id="rId11"/>
    <p:sldId id="265" r:id="rId12"/>
    <p:sldId id="266" r:id="rId13"/>
    <p:sldId id="267" r:id="rId14"/>
    <p:sldId id="268" r:id="rId15"/>
    <p:sldId id="270" r:id="rId16"/>
    <p:sldId id="271" r:id="rId17"/>
    <p:sldId id="277" r:id="rId18"/>
    <p:sldId id="278" r:id="rId19"/>
    <p:sldId id="279" r:id="rId20"/>
    <p:sldId id="272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dy  Osama Mohammed El-Sayed Farag" userId="ce30e293-d0d5-48cf-89a7-3adfd3b27b58" providerId="ADAL" clId="{6ED7B234-E96D-48DF-8D42-FA690BF8F431}"/>
    <pc:docChg chg="custSel delSld modSld">
      <pc:chgData name="Hamdy  Osama Mohammed El-Sayed Farag" userId="ce30e293-d0d5-48cf-89a7-3adfd3b27b58" providerId="ADAL" clId="{6ED7B234-E96D-48DF-8D42-FA690BF8F431}" dt="2025-11-24T09:16:22.157" v="19" actId="478"/>
      <pc:docMkLst>
        <pc:docMk/>
      </pc:docMkLst>
      <pc:sldChg chg="del">
        <pc:chgData name="Hamdy  Osama Mohammed El-Sayed Farag" userId="ce30e293-d0d5-48cf-89a7-3adfd3b27b58" providerId="ADAL" clId="{6ED7B234-E96D-48DF-8D42-FA690BF8F431}" dt="2025-11-23T13:44:30.748" v="0" actId="47"/>
        <pc:sldMkLst>
          <pc:docMk/>
          <pc:sldMk cId="944642958" sldId="269"/>
        </pc:sldMkLst>
      </pc:sldChg>
      <pc:sldChg chg="addSp delSp mod">
        <pc:chgData name="Hamdy  Osama Mohammed El-Sayed Farag" userId="ce30e293-d0d5-48cf-89a7-3adfd3b27b58" providerId="ADAL" clId="{6ED7B234-E96D-48DF-8D42-FA690BF8F431}" dt="2025-11-24T08:44:55.519" v="7" actId="478"/>
        <pc:sldMkLst>
          <pc:docMk/>
          <pc:sldMk cId="3851927706" sldId="274"/>
        </pc:sldMkLst>
        <pc:spChg chg="add del">
          <ac:chgData name="Hamdy  Osama Mohammed El-Sayed Farag" userId="ce30e293-d0d5-48cf-89a7-3adfd3b27b58" providerId="ADAL" clId="{6ED7B234-E96D-48DF-8D42-FA690BF8F431}" dt="2025-11-24T08:44:55.519" v="7" actId="478"/>
          <ac:spMkLst>
            <pc:docMk/>
            <pc:sldMk cId="3851927706" sldId="274"/>
            <ac:spMk id="6" creationId="{E970B46D-9615-3C2E-1326-22E5F73F8EE4}"/>
          </ac:spMkLst>
        </pc:spChg>
      </pc:sldChg>
      <pc:sldChg chg="modSp mod">
        <pc:chgData name="Hamdy  Osama Mohammed El-Sayed Farag" userId="ce30e293-d0d5-48cf-89a7-3adfd3b27b58" providerId="ADAL" clId="{6ED7B234-E96D-48DF-8D42-FA690BF8F431}" dt="2025-11-24T08:50:18.005" v="9" actId="1076"/>
        <pc:sldMkLst>
          <pc:docMk/>
          <pc:sldMk cId="3698595836" sldId="279"/>
        </pc:sldMkLst>
        <pc:picChg chg="mod">
          <ac:chgData name="Hamdy  Osama Mohammed El-Sayed Farag" userId="ce30e293-d0d5-48cf-89a7-3adfd3b27b58" providerId="ADAL" clId="{6ED7B234-E96D-48DF-8D42-FA690BF8F431}" dt="2025-11-24T08:50:18.005" v="9" actId="1076"/>
          <ac:picMkLst>
            <pc:docMk/>
            <pc:sldMk cId="3698595836" sldId="279"/>
            <ac:picMk id="5" creationId="{006C0277-8FC9-B1A5-B7DE-0103BB50E59B}"/>
          </ac:picMkLst>
        </pc:picChg>
      </pc:sldChg>
      <pc:sldChg chg="modSp mod">
        <pc:chgData name="Hamdy  Osama Mohammed El-Sayed Farag" userId="ce30e293-d0d5-48cf-89a7-3adfd3b27b58" providerId="ADAL" clId="{6ED7B234-E96D-48DF-8D42-FA690BF8F431}" dt="2025-11-24T09:01:48.083" v="12" actId="1076"/>
        <pc:sldMkLst>
          <pc:docMk/>
          <pc:sldMk cId="931479880" sldId="283"/>
        </pc:sldMkLst>
        <pc:picChg chg="mod">
          <ac:chgData name="Hamdy  Osama Mohammed El-Sayed Farag" userId="ce30e293-d0d5-48cf-89a7-3adfd3b27b58" providerId="ADAL" clId="{6ED7B234-E96D-48DF-8D42-FA690BF8F431}" dt="2025-11-24T09:01:48.083" v="12" actId="1076"/>
          <ac:picMkLst>
            <pc:docMk/>
            <pc:sldMk cId="931479880" sldId="283"/>
            <ac:picMk id="6" creationId="{8E066AFC-D159-8C92-6042-70616D869C80}"/>
          </ac:picMkLst>
        </pc:picChg>
      </pc:sldChg>
      <pc:sldChg chg="addSp delSp modSp mod">
        <pc:chgData name="Hamdy  Osama Mohammed El-Sayed Farag" userId="ce30e293-d0d5-48cf-89a7-3adfd3b27b58" providerId="ADAL" clId="{6ED7B234-E96D-48DF-8D42-FA690BF8F431}" dt="2025-11-24T09:16:22.157" v="19" actId="478"/>
        <pc:sldMkLst>
          <pc:docMk/>
          <pc:sldMk cId="3524260215" sldId="284"/>
        </pc:sldMkLst>
        <pc:spChg chg="add del mod">
          <ac:chgData name="Hamdy  Osama Mohammed El-Sayed Farag" userId="ce30e293-d0d5-48cf-89a7-3adfd3b27b58" providerId="ADAL" clId="{6ED7B234-E96D-48DF-8D42-FA690BF8F431}" dt="2025-11-24T09:16:22.157" v="19" actId="478"/>
          <ac:spMkLst>
            <pc:docMk/>
            <pc:sldMk cId="3524260215" sldId="284"/>
            <ac:spMk id="5" creationId="{CBC2BE2A-DC1B-EF53-A203-415EB2CCB40A}"/>
          </ac:spMkLst>
        </pc:spChg>
      </pc:sldChg>
      <pc:sldChg chg="modSp mod">
        <pc:chgData name="Hamdy  Osama Mohammed El-Sayed Farag" userId="ce30e293-d0d5-48cf-89a7-3adfd3b27b58" providerId="ADAL" clId="{6ED7B234-E96D-48DF-8D42-FA690BF8F431}" dt="2025-11-23T14:57:40.488" v="3" actId="20577"/>
        <pc:sldMkLst>
          <pc:docMk/>
          <pc:sldMk cId="3030266647" sldId="286"/>
        </pc:sldMkLst>
        <pc:spChg chg="mod">
          <ac:chgData name="Hamdy  Osama Mohammed El-Sayed Farag" userId="ce30e293-d0d5-48cf-89a7-3adfd3b27b58" providerId="ADAL" clId="{6ED7B234-E96D-48DF-8D42-FA690BF8F431}" dt="2025-11-23T14:57:40.488" v="3" actId="20577"/>
          <ac:spMkLst>
            <pc:docMk/>
            <pc:sldMk cId="3030266647" sldId="286"/>
            <ac:spMk id="3" creationId="{F2ECD9C5-7CD5-0739-92E3-CFA43049FE36}"/>
          </ac:spMkLst>
        </pc:spChg>
      </pc:sldChg>
      <pc:sldChg chg="modSp mod">
        <pc:chgData name="Hamdy  Osama Mohammed El-Sayed Farag" userId="ce30e293-d0d5-48cf-89a7-3adfd3b27b58" providerId="ADAL" clId="{6ED7B234-E96D-48DF-8D42-FA690BF8F431}" dt="2025-11-24T09:16:13.871" v="18" actId="14100"/>
        <pc:sldMkLst>
          <pc:docMk/>
          <pc:sldMk cId="2438398259" sldId="288"/>
        </pc:sldMkLst>
        <pc:picChg chg="mod">
          <ac:chgData name="Hamdy  Osama Mohammed El-Sayed Farag" userId="ce30e293-d0d5-48cf-89a7-3adfd3b27b58" providerId="ADAL" clId="{6ED7B234-E96D-48DF-8D42-FA690BF8F431}" dt="2025-11-24T09:16:13.871" v="18" actId="14100"/>
          <ac:picMkLst>
            <pc:docMk/>
            <pc:sldMk cId="2438398259" sldId="288"/>
            <ac:picMk id="5" creationId="{20F0D75C-FADD-1F19-33E7-B6E8AC81B34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23C8-815D-B73D-427E-8FC86F604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26B9E7-F617-8292-892E-1F258F068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51AC2-57BE-795E-6943-67F4F1AC3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8086D-09B1-3375-FE3B-2C1E24DDD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1B9DC-4748-0D8D-58FA-53568128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1F37-44A0-9CB4-F8AA-E7FB8A15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2F67F-5868-56E9-E16B-DFB6BF649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F22D-75C9-55AD-85B4-1E820567D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9A623-B945-D5E0-8118-287D643F8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311CA-9AD1-E4D6-6289-603EF12F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90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FFA2-8F6E-3794-158A-D980F675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E4F97-B82A-8FF9-335B-40500E0D9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F0856-B34A-5554-A4A0-77360D3B2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F0B95-079A-82C9-6F29-43821A02C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50783-4F15-B6FD-9D86-9FE18DC0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63E4-9159-40B2-F5AE-08C9C201B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3117A-87D0-53C2-2144-438F1449D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CE35D-CB77-D348-7FC1-374AC6F15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45B27-6903-F48C-69D2-1D472D34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8A06E-C42D-BFF1-BB75-09F446E31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014C1-A33A-55A8-7F95-85C7E7FB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6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A997-EC46-1866-96F2-A64193852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E0BD1-9043-17EE-4734-82E23D823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DA775-55EB-B618-2E55-9FBEE90F9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EE37F-34DC-7D11-A707-71C7D407E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5E46C-7C11-56BA-1E68-0B6A4E2CE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725FC8-D3A7-FF96-CB9C-DA65F646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F79CA-BC6F-C305-16D5-AA801CB7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FA1CF-6725-8D19-B8F2-6D44EC34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0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A5AD9-B4C9-2834-71B5-5689E45B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9EE71-BB6F-A9E0-368F-96CAABA8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A5614-F86D-F0E7-E132-92665E3B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82646-58F0-2AD3-E87A-530658353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07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E4FB6-5FDB-EC23-48AF-867335C7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BD0135-A3C8-EA0F-CAD1-26F5406E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613DE-B153-F970-3009-5DE7F8F7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0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BBB2-9BD4-68EA-F64E-0BB1A99ED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0665-E374-2EC7-3A34-6DD8C2B1C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A17E7-DCB2-AEB5-5751-97B649C66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77694-3FD7-7E8E-AB6F-F5F8BBD8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BF668-1AD8-810F-154F-22DC69CD3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BF7E4-8892-B18B-D377-4A1DCE32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0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CE7F-3675-9C54-A316-D32DDAC5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450D44-4B5F-DEBB-1425-D2DD163B7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D572D-7E18-E2DE-D98B-F18624CED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EB649-C259-12F2-B805-F275A258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2272D-4526-B864-598E-A1C639FB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0252-20CD-2D3B-CD34-D5DA5A57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0B43-EC0B-F222-5169-1614F1AB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1F1AE-E32E-953F-6ADA-C8BA7A61B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11176-2569-0075-F715-563178AFA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DFF6D-EC22-1F8C-8264-3BA9FD4E2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F42B0-E161-2626-924A-E6E337CA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74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804022-A472-BBC5-B771-7D885E531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2DB80-3B38-8096-1981-D56C728B8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657B8-CE2C-B9BA-8734-73E2FCA92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89BC0-517C-7A08-27A9-FA864EA44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CB0BB-34A7-3B9D-5AD6-25597FB1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3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B01A14-6A50-E3C3-8671-6CC02C855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D7169-3EAD-B134-0F75-3E8453C1A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DA8DF-EBC7-BDA4-218D-4787AC2E3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C2326-79B3-477F-8F9B-EFD0727235F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C8328-71DF-F3E4-4E44-706866CA4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0D494-49E6-FF59-A499-2FABA2B26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F4273-82E7-47AD-A388-B83545C3F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8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man.com/mshawket-1983809/mock-server/collection/yskidph/mini-twitter?action=share&amp;source=copy-link&amp;creator=47478130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man.com/mshawket-1983809/mock-server/collection/yskidph/mini-twitter?action=share&amp;source=copy-link&amp;creator=4747813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CSE343</a:t>
            </a:r>
          </a:p>
          <a:p>
            <a:r>
              <a:rPr lang="en-US" dirty="0"/>
              <a:t>Lab 8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1D99-736E-2D3A-BFF5-EEC77CD3D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8221-BC80-211E-E347-68CEB6838D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Servers &amp; Nodejs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E54A5-5AD9-C4CD-F0B8-012F17949A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0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65CAE-54F2-6C97-1E09-17ED597D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03149-3EF7-3D33-D6EA-961236510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Nodejs </a:t>
            </a:r>
          </a:p>
          <a:p>
            <a:r>
              <a:rPr lang="en-US" dirty="0"/>
              <a:t>What are servers</a:t>
            </a:r>
          </a:p>
          <a:p>
            <a:r>
              <a:rPr lang="en-US" dirty="0"/>
              <a:t>Express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5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3282-C14B-BA80-688A-1C8F77287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FBC0-4734-6800-2166-8602120DF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D5103-11D1-26A4-EAA5-259B59494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time we saw how we can expose functions running on a machine to the world using REST APIs</a:t>
            </a:r>
          </a:p>
          <a:p>
            <a:r>
              <a:rPr lang="en-US" dirty="0"/>
              <a:t>We also saw how to design a REST API of our own</a:t>
            </a:r>
          </a:p>
          <a:p>
            <a:r>
              <a:rPr lang="en-US" dirty="0"/>
              <a:t>We saw how the front end can call these APIs using fetch()</a:t>
            </a:r>
          </a:p>
          <a:p>
            <a:r>
              <a:rPr lang="en-US" dirty="0"/>
              <a:t>This time we will start implementing the backend logic itself</a:t>
            </a:r>
          </a:p>
        </p:txBody>
      </p:sp>
    </p:spTree>
    <p:extLst>
      <p:ext uri="{BB962C8B-B14F-4D97-AF65-F5344CB8AC3E}">
        <p14:creationId xmlns:p14="http://schemas.microsoft.com/office/powerpoint/2010/main" val="2128403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F3373-93A1-D1B2-5618-B817DBABE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E14F-B925-1FC4-D29F-FDEAD2D7D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Basics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EA583-D339-362C-7A12-897444520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 have been running </a:t>
            </a:r>
            <a:r>
              <a:rPr lang="en-US" dirty="0" err="1"/>
              <a:t>javascript</a:t>
            </a:r>
            <a:r>
              <a:rPr lang="en-US" dirty="0"/>
              <a:t> in the browser</a:t>
            </a:r>
          </a:p>
          <a:p>
            <a:r>
              <a:rPr lang="en-US" dirty="0"/>
              <a:t>Node allows us to run </a:t>
            </a:r>
            <a:r>
              <a:rPr lang="en-US" dirty="0" err="1"/>
              <a:t>javascript</a:t>
            </a:r>
            <a:r>
              <a:rPr lang="en-US" dirty="0"/>
              <a:t> on the machine. The same way we run python, C++, Java programs</a:t>
            </a:r>
          </a:p>
          <a:p>
            <a:r>
              <a:rPr lang="en-US" dirty="0"/>
              <a:t>To get started, install node</a:t>
            </a:r>
          </a:p>
          <a:p>
            <a:r>
              <a:rPr lang="en-US" dirty="0"/>
              <a:t>Make sure that running node --version doesn’t return with an error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089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1D19D-AC62-165C-9F06-0A7F7647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F729-55CF-A8B3-2306-2A9473CD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Basics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6288B-C41C-AF68-52A6-83CDF9FF5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runs the V8 JavaScript engine. This is the engine that runs in the google chrome browser</a:t>
            </a:r>
          </a:p>
          <a:p>
            <a:r>
              <a:rPr lang="en-US" dirty="0"/>
              <a:t>So, it essentially takes the engine out of the browser and runs it locally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3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47C56-D872-2883-8C61-3604D0E9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5957-45C0-9F37-0976-C6B545EAD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Basics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10F3-8173-28B2-7E76-B44556BBE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So, what’s the difference between Node and the browser</a:t>
            </a:r>
          </a:p>
          <a:p>
            <a:r>
              <a:rPr lang="en-US" dirty="0"/>
              <a:t>Both the browser and Node.js use JavaScript as their programming language</a:t>
            </a:r>
          </a:p>
          <a:p>
            <a:r>
              <a:rPr lang="en-US" dirty="0"/>
              <a:t>In the browser, most of the time what you are doing is interacting with the DOM using </a:t>
            </a:r>
            <a:r>
              <a:rPr lang="en-US" b="1" dirty="0"/>
              <a:t>document</a:t>
            </a:r>
            <a:r>
              <a:rPr lang="en-US" dirty="0"/>
              <a:t> and </a:t>
            </a:r>
            <a:r>
              <a:rPr lang="en-US" b="1" dirty="0"/>
              <a:t>window </a:t>
            </a:r>
            <a:r>
              <a:rPr lang="en-US" dirty="0"/>
              <a:t>APIs. Those do not exist in Node.js</a:t>
            </a:r>
          </a:p>
          <a:p>
            <a:r>
              <a:rPr lang="en-US" dirty="0"/>
              <a:t>In Node, you have APIs to interact with the file system</a:t>
            </a:r>
          </a:p>
        </p:txBody>
      </p:sp>
    </p:spTree>
    <p:extLst>
      <p:ext uri="{BB962C8B-B14F-4D97-AF65-F5344CB8AC3E}">
        <p14:creationId xmlns:p14="http://schemas.microsoft.com/office/powerpoint/2010/main" val="1144716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2CEC-575B-B6B6-7437-1D859B46C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A266-ACE6-1273-6E89-F4E3BA4ED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Basics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B4E73-E86B-C046-3430-1D0A0BF49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take an example of a node program that interacts with the file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205263-B5FF-3AD4-F746-E3595F55A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395" y="2749706"/>
            <a:ext cx="7787209" cy="38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27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17621-AB41-04B9-F8BE-34B3AA5BB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B3EA-EE6E-D4C6-4E1B-A6D0F4BA0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Basics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A1CCDF-1E7B-AD9D-8166-803D9B835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318886" cy="283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7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BCDBF-BDA1-90A9-D68F-7E62CB78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4DEC-F18D-5750-F3DE-47AF53A8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96524-9F17-BB9C-0879-E6B93B9E2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programming languages that we have studied before (Java, Python, …) support multi-threading -&gt; you can simply create a new thread in you program and assign it a task to achieve concurrency</a:t>
            </a:r>
          </a:p>
          <a:p>
            <a:r>
              <a:rPr lang="en-US" dirty="0"/>
              <a:t>Unlike these languages, node is single threaded</a:t>
            </a:r>
          </a:p>
          <a:p>
            <a:r>
              <a:rPr lang="en-US" dirty="0"/>
              <a:t>At a first glance, this may sound disastrous!</a:t>
            </a:r>
          </a:p>
          <a:p>
            <a:r>
              <a:rPr lang="en-US" dirty="0"/>
              <a:t>How can we achieve concurrency?? </a:t>
            </a:r>
          </a:p>
        </p:txBody>
      </p:sp>
    </p:spTree>
    <p:extLst>
      <p:ext uri="{BB962C8B-B14F-4D97-AF65-F5344CB8AC3E}">
        <p14:creationId xmlns:p14="http://schemas.microsoft.com/office/powerpoint/2010/main" val="387641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D1F4-7E65-CDCE-EDED-415584EEE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8433-F92D-C9E4-B151-DE71D273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D534-9EB5-0D8A-9301-54F9C249C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we go into why node can achieve concurrency, let’s first think about some cases where we actually need it</a:t>
            </a:r>
          </a:p>
          <a:p>
            <a:r>
              <a:rPr lang="en-US" dirty="0"/>
              <a:t>So that’s a question for you: </a:t>
            </a:r>
            <a:r>
              <a:rPr lang="en-US" b="1" dirty="0"/>
              <a:t>When would we need concurrency?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620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A9F32-5868-2A1F-B817-119F5975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45E7-5333-45F0-CC8F-276A751B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B022D-FEAE-952A-DD1E-1E1497FC2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64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When would we need concurrency?</a:t>
            </a:r>
          </a:p>
          <a:p>
            <a:r>
              <a:rPr lang="en-US" dirty="0"/>
              <a:t>If we are running a server, we would want to handle multiple requests at the same time</a:t>
            </a:r>
          </a:p>
          <a:p>
            <a:r>
              <a:rPr lang="en-US" dirty="0"/>
              <a:t>If we are doing an I/O operation like reading from the disk or sending a network request, we don’t want our entire program to stop and wait for this operation to return</a:t>
            </a:r>
          </a:p>
          <a:p>
            <a:r>
              <a:rPr lang="en-US" dirty="0"/>
              <a:t>If we are working with a timer, we don’t want our entire program to stop and wait for the time to finish</a:t>
            </a:r>
          </a:p>
          <a:p>
            <a:r>
              <a:rPr lang="en-US" dirty="0"/>
              <a:t>If there is a long running background process like compressing a file or sending an email</a:t>
            </a:r>
          </a:p>
        </p:txBody>
      </p:sp>
    </p:spTree>
    <p:extLst>
      <p:ext uri="{BB962C8B-B14F-4D97-AF65-F5344CB8AC3E}">
        <p14:creationId xmlns:p14="http://schemas.microsoft.com/office/powerpoint/2010/main" val="391942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63479-E1A1-B4B8-427D-22E3E4C88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050E2-43B5-8D69-E619-5868E6D4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4EF3-D1C1-8B61-D314-43E5F60EE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64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When would we need concurrency?</a:t>
            </a:r>
          </a:p>
          <a:p>
            <a:pPr marL="0" indent="0">
              <a:buNone/>
            </a:pPr>
            <a:r>
              <a:rPr lang="en-US" dirty="0"/>
              <a:t>We need concurrency whenever we want multiple tasks to </a:t>
            </a:r>
            <a:r>
              <a:rPr lang="en-US" i="1" dirty="0"/>
              <a:t>progress</a:t>
            </a:r>
            <a:r>
              <a:rPr lang="en-US" dirty="0"/>
              <a:t> at the same time, especially when some tasks involve slow I/O</a:t>
            </a:r>
          </a:p>
          <a:p>
            <a:pPr marL="0" indent="0">
              <a:buNone/>
            </a:pPr>
            <a:r>
              <a:rPr lang="en-US" dirty="0"/>
              <a:t>A non-concurrent system would freeze whenever it waits for something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1689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53B1-F613-771D-DB1C-DADD5182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05C46-D933-249C-8039-9AC30293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23812-AE7D-3DA2-C16A-FDC62B513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&gt; Well, if concurrency is that important, then node is a terrible choice since it is single threaded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No. </a:t>
            </a:r>
          </a:p>
          <a:p>
            <a:pPr marL="0" indent="0">
              <a:buNone/>
            </a:pPr>
            <a:r>
              <a:rPr lang="en-US" dirty="0"/>
              <a:t>Nodejs has a different way to achieve concurrency despite being single threaded</a:t>
            </a:r>
          </a:p>
        </p:txBody>
      </p:sp>
    </p:spTree>
    <p:extLst>
      <p:ext uri="{BB962C8B-B14F-4D97-AF65-F5344CB8AC3E}">
        <p14:creationId xmlns:p14="http://schemas.microsoft.com/office/powerpoint/2010/main" val="1064971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B0482-AE62-1B09-3625-CA728FCC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BEC83-C75E-F1EC-41E5-83823781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480E4-84B7-269F-474C-F31B63A7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r>
              <a:rPr lang="en-US" dirty="0"/>
              <a:t>Allow me to introduce you to the </a:t>
            </a:r>
            <a:r>
              <a:rPr lang="en-US" b="1" dirty="0"/>
              <a:t>Event Loop</a:t>
            </a:r>
          </a:p>
          <a:p>
            <a:r>
              <a:rPr lang="en-US" dirty="0"/>
              <a:t>This is the heart of Node's concurrency</a:t>
            </a:r>
          </a:p>
          <a:p>
            <a:r>
              <a:rPr lang="en-US" dirty="0"/>
              <a:t>When Node reaches a blocking call (a call that requires waiting), Node does </a:t>
            </a:r>
            <a:r>
              <a:rPr lang="en-US" b="1" dirty="0"/>
              <a:t>not</a:t>
            </a:r>
            <a:r>
              <a:rPr lang="en-US" dirty="0"/>
              <a:t> execute it in the main thread.</a:t>
            </a:r>
          </a:p>
          <a:p>
            <a:r>
              <a:rPr lang="en-US" dirty="0"/>
              <a:t>It delegates it to the system where the call is executed by another component called “</a:t>
            </a:r>
            <a:r>
              <a:rPr lang="en-US" dirty="0" err="1"/>
              <a:t>libuv</a:t>
            </a:r>
            <a:r>
              <a:rPr lang="en-US" dirty="0"/>
              <a:t>”, and while waiting, the main thread continues executing other code</a:t>
            </a:r>
          </a:p>
        </p:txBody>
      </p:sp>
    </p:spTree>
    <p:extLst>
      <p:ext uri="{BB962C8B-B14F-4D97-AF65-F5344CB8AC3E}">
        <p14:creationId xmlns:p14="http://schemas.microsoft.com/office/powerpoint/2010/main" val="1946343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1A04-6D74-333B-23BD-5C81616C3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2294-8BE9-7E82-4F4D-EC4CD2974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B5DB-9679-6A49-0D27-ADE637DA6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r>
              <a:rPr lang="en-US" dirty="0"/>
              <a:t>When </a:t>
            </a:r>
            <a:r>
              <a:rPr lang="en-US" dirty="0" err="1"/>
              <a:t>libuv</a:t>
            </a:r>
            <a:r>
              <a:rPr lang="en-US" dirty="0"/>
              <a:t> finishes a task, it sends the result back to Node</a:t>
            </a:r>
          </a:p>
          <a:p>
            <a:r>
              <a:rPr lang="en-US" dirty="0"/>
              <a:t>The event loop then “resumes” the code after the blocking call</a:t>
            </a:r>
          </a:p>
        </p:txBody>
      </p:sp>
    </p:spTree>
    <p:extLst>
      <p:ext uri="{BB962C8B-B14F-4D97-AF65-F5344CB8AC3E}">
        <p14:creationId xmlns:p14="http://schemas.microsoft.com/office/powerpoint/2010/main" val="1338304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2FFCC-ED50-B2BC-469E-606FFF425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31BD-0C1E-BB07-3EB9-D42A54C5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BC9DF-CBC8-ABE9-1E7D-BD2D90C1C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r>
              <a:rPr lang="en-US" dirty="0"/>
              <a:t>Let’s revisit our file system example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This is a synchronous call to the read operation</a:t>
            </a:r>
          </a:p>
          <a:p>
            <a:r>
              <a:rPr lang="en-US" dirty="0"/>
              <a:t>Meaning that the entire program stops and waits/blocks for the disk I/O to finish before it resumes execution </a:t>
            </a:r>
          </a:p>
          <a:p>
            <a:r>
              <a:rPr lang="en-US" dirty="0"/>
              <a:t>Let’s make async so that the main thread can execute other code while doing I/O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A09DA-7883-BC97-BF67-6B96CB7C1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01" y="2318266"/>
            <a:ext cx="9078264" cy="65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42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6754C-3603-97FD-C194-93F73ADF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52FC-F051-26C1-BA8F-498BE179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C56F0-5397-2C7A-C594-F9F4EF7A7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296" y="1825625"/>
            <a:ext cx="3399503" cy="4339201"/>
          </a:xfrm>
        </p:spPr>
        <p:txBody>
          <a:bodyPr/>
          <a:lstStyle/>
          <a:p>
            <a:r>
              <a:rPr lang="en-US" dirty="0"/>
              <a:t>Here we gave it a callback to be executed on the output of the async call</a:t>
            </a:r>
          </a:p>
          <a:p>
            <a:endParaRPr lang="en-US" dirty="0"/>
          </a:p>
          <a:p>
            <a:r>
              <a:rPr lang="en-US" dirty="0"/>
              <a:t>Can you guess the output of the program?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73D5D-C066-FDC5-A674-83672BCF3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87" y="1825624"/>
            <a:ext cx="7008731" cy="483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12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03E2-CD79-B477-1F53-CD727421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0A24D-11A7-F973-A7FC-91F27DA8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FD9C3-BA9A-5CF6-C1BB-02EDA5608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r>
              <a:rPr lang="en-US" dirty="0"/>
              <a:t>We can achieve the same thing using async/await to avoid callback hell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C0277-8FC9-B1A5-B7DE-0103BB50E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86" y="2638607"/>
            <a:ext cx="7118914" cy="366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95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3491-8BD1-11E3-11D5-190EC29D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1106-B8D7-D50A-1530-4A2D804D8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Nodejs –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134FB-39A7-0B98-CB89-6B14772DB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summary: </a:t>
            </a:r>
          </a:p>
          <a:p>
            <a:r>
              <a:rPr lang="en-US" dirty="0"/>
              <a:t>Node achieves concurrency because your JavaScript is single-threaded but the </a:t>
            </a:r>
            <a:r>
              <a:rPr lang="en-US" b="1" dirty="0"/>
              <a:t>I/O system under it is multi-threaded</a:t>
            </a:r>
            <a:r>
              <a:rPr lang="en-US" dirty="0"/>
              <a:t>.</a:t>
            </a:r>
          </a:p>
          <a:p>
            <a:r>
              <a:rPr lang="en-US" dirty="0"/>
              <a:t>JS delegates slow operations to </a:t>
            </a:r>
            <a:r>
              <a:rPr lang="en-US" dirty="0" err="1"/>
              <a:t>libuv</a:t>
            </a:r>
            <a:r>
              <a:rPr lang="en-US" dirty="0"/>
              <a:t> threads</a:t>
            </a:r>
          </a:p>
          <a:p>
            <a:r>
              <a:rPr lang="en-US" dirty="0"/>
              <a:t>The event loop keeps your program responsive and allows thousands of concurrent requests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295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1EAB-F4BF-8113-121E-F16A745B1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84F10-81A5-E93F-0902-3AF78839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7FC6D-8C83-2508-57EA-42BD87C83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r>
              <a:rPr lang="en-US" dirty="0"/>
              <a:t>Servers are computers that run the backend logic of your application</a:t>
            </a:r>
          </a:p>
          <a:p>
            <a:r>
              <a:rPr lang="en-US" dirty="0"/>
              <a:t>They expose their functions to the network </a:t>
            </a:r>
          </a:p>
          <a:p>
            <a:r>
              <a:rPr lang="en-US" dirty="0"/>
              <a:t>They sit waiting for network requests and execute the code according to the incoming request</a:t>
            </a:r>
          </a:p>
          <a:p>
            <a:r>
              <a:rPr lang="en-US" dirty="0"/>
              <a:t>They return the requested data to the client that sent the request</a:t>
            </a:r>
          </a:p>
        </p:txBody>
      </p:sp>
    </p:spTree>
    <p:extLst>
      <p:ext uri="{BB962C8B-B14F-4D97-AF65-F5344CB8AC3E}">
        <p14:creationId xmlns:p14="http://schemas.microsoft.com/office/powerpoint/2010/main" val="2185518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4F63C-A6CE-3900-0AF2-D75F7B2E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C2003-8B2A-5953-367B-E6339F07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2AB05-3D23-A6E1-1DB8-37D72E839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r>
              <a:rPr lang="en-US" dirty="0"/>
              <a:t>We can create servers in any programming language</a:t>
            </a:r>
          </a:p>
          <a:p>
            <a:r>
              <a:rPr lang="en-US" dirty="0"/>
              <a:t>We will be using </a:t>
            </a:r>
            <a:r>
              <a:rPr lang="en-US" dirty="0" err="1"/>
              <a:t>javascript</a:t>
            </a:r>
            <a:r>
              <a:rPr lang="en-US" dirty="0"/>
              <a:t> and node today for our server</a:t>
            </a:r>
          </a:p>
          <a:p>
            <a:r>
              <a:rPr lang="en-US" dirty="0"/>
              <a:t>We will be using </a:t>
            </a:r>
            <a:r>
              <a:rPr lang="en-US" dirty="0" err="1"/>
              <a:t>ExpressJS</a:t>
            </a:r>
            <a:r>
              <a:rPr lang="en-US" dirty="0"/>
              <a:t>: a framework built for node that abstracts and simplifies the process of creating servers</a:t>
            </a:r>
          </a:p>
        </p:txBody>
      </p:sp>
    </p:spTree>
    <p:extLst>
      <p:ext uri="{BB962C8B-B14F-4D97-AF65-F5344CB8AC3E}">
        <p14:creationId xmlns:p14="http://schemas.microsoft.com/office/powerpoint/2010/main" val="427488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35FA5-AFD0-AB44-6197-7259A0BEB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7F53-C97A-64D5-4F9D-ACF5BF2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1AEA-31EA-C86C-17E7-DAD2E5885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r>
              <a:rPr lang="en-US" dirty="0"/>
              <a:t>First we need to install express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98A2B-0C29-7A3D-5499-01BFC7BC8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309" y="2998480"/>
            <a:ext cx="3170520" cy="10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38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7243-F3AB-6C95-F742-C1298526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22FE-40FB-A1DE-5FF6-E7E11309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4B1B5-3A09-8A8F-1364-833D99F90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can create endpoints in express this way: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066AFC-D159-8C92-6042-70616D869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32" y="2633133"/>
            <a:ext cx="7190347" cy="3315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1F2E82-ADF0-F463-9B93-06F0877206E4}"/>
              </a:ext>
            </a:extLst>
          </p:cNvPr>
          <p:cNvSpPr txBox="1"/>
          <p:nvPr/>
        </p:nvSpPr>
        <p:spPr>
          <a:xfrm>
            <a:off x="8534400" y="2359742"/>
            <a:ext cx="3657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we created our app object</a:t>
            </a:r>
          </a:p>
          <a:p>
            <a:endParaRPr lang="en-US" dirty="0"/>
          </a:p>
          <a:p>
            <a:r>
              <a:rPr lang="en-US" dirty="0"/>
              <a:t>Then created a get endpoint with path “/”</a:t>
            </a:r>
          </a:p>
          <a:p>
            <a:endParaRPr lang="en-US" dirty="0"/>
          </a:p>
          <a:p>
            <a:r>
              <a:rPr lang="en-US" dirty="0"/>
              <a:t>We provide a callback that will be called when we receive a GET request on the path “/”</a:t>
            </a:r>
          </a:p>
          <a:p>
            <a:endParaRPr lang="en-US" dirty="0"/>
          </a:p>
          <a:p>
            <a:r>
              <a:rPr lang="en-US" dirty="0"/>
              <a:t>We finally tell our app to listen for requests on port 3000</a:t>
            </a:r>
          </a:p>
        </p:txBody>
      </p:sp>
    </p:spTree>
    <p:extLst>
      <p:ext uri="{BB962C8B-B14F-4D97-AF65-F5344CB8AC3E}">
        <p14:creationId xmlns:p14="http://schemas.microsoft.com/office/powerpoint/2010/main" val="931479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DAF2-B5BD-56F8-F662-8A53F0D0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9FCA8-1A8E-A447-FACB-8992ACE4F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7DFEA-9BE9-C921-3B2B-81BA98149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r>
              <a:rPr lang="en-US" dirty="0"/>
              <a:t>The call back is called with 2 parameters:</a:t>
            </a:r>
          </a:p>
          <a:p>
            <a:pPr lvl="1"/>
            <a:r>
              <a:rPr lang="en-US" dirty="0"/>
              <a:t>Req: an object containing data about the incoming request</a:t>
            </a:r>
          </a:p>
          <a:p>
            <a:pPr lvl="1"/>
            <a:r>
              <a:rPr lang="en-US" dirty="0"/>
              <a:t>Res: an object that we can use to make our response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2602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F33E0-D7F0-51F8-6F1F-865B02588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1085-784C-5257-B2A2-D3509A58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7300D-E59E-25E6-AB8A-A6402D1F9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201"/>
          </a:xfrm>
        </p:spPr>
        <p:txBody>
          <a:bodyPr/>
          <a:lstStyle/>
          <a:p>
            <a:r>
              <a:rPr lang="en-US" dirty="0"/>
              <a:t>Here’s how we can access path parameters of a request like the id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Using </a:t>
            </a:r>
            <a:r>
              <a:rPr lang="en-US" dirty="0" err="1"/>
              <a:t>res.send</a:t>
            </a:r>
            <a:r>
              <a:rPr lang="en-US" dirty="0"/>
              <a:t>() sends text as the response for the request</a:t>
            </a:r>
          </a:p>
          <a:p>
            <a:r>
              <a:rPr lang="en-US" dirty="0"/>
              <a:t>We can use </a:t>
            </a:r>
            <a:r>
              <a:rPr lang="en-US" dirty="0" err="1"/>
              <a:t>res.json</a:t>
            </a:r>
            <a:r>
              <a:rPr lang="en-US" dirty="0"/>
              <a:t>(</a:t>
            </a:r>
            <a:r>
              <a:rPr lang="en-US" dirty="0" err="1"/>
              <a:t>some_object</a:t>
            </a:r>
            <a:r>
              <a:rPr lang="en-US" dirty="0"/>
              <a:t>) to convert a </a:t>
            </a:r>
            <a:r>
              <a:rPr lang="en-US" dirty="0" err="1"/>
              <a:t>javascript</a:t>
            </a:r>
            <a:r>
              <a:rPr lang="en-US" dirty="0"/>
              <a:t> object to </a:t>
            </a:r>
            <a:r>
              <a:rPr lang="en-US" dirty="0" err="1"/>
              <a:t>json</a:t>
            </a:r>
            <a:r>
              <a:rPr lang="en-US" dirty="0"/>
              <a:t> and send it in the response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FCFB7-757E-C89D-36BE-1CD87E5CE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52" y="2381189"/>
            <a:ext cx="7856946" cy="175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9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C789-B22A-8410-1B5A-BE0E0648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8948-C60D-A8FE-4F90-8EDC24E2E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D9C5-7CD5-0739-92E3-CFA43049F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We can add middleware to our express server</a:t>
            </a:r>
          </a:p>
          <a:p>
            <a:r>
              <a:rPr lang="en-US" dirty="0"/>
              <a:t>Middleware is a function that runs automatically before your logic</a:t>
            </a:r>
          </a:p>
          <a:p>
            <a:r>
              <a:rPr lang="en-US" dirty="0"/>
              <a:t>This middleware for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Parses the </a:t>
            </a:r>
            <a:r>
              <a:rPr lang="en-US" dirty="0" err="1"/>
              <a:t>json</a:t>
            </a:r>
            <a:r>
              <a:rPr lang="en-US" dirty="0"/>
              <a:t> payload of the request into a </a:t>
            </a:r>
            <a:r>
              <a:rPr lang="en-US" dirty="0" err="1"/>
              <a:t>javascript</a:t>
            </a:r>
            <a:r>
              <a:rPr lang="en-US" dirty="0"/>
              <a:t> object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1B9EDD-A39C-2E6E-A3C7-E08121FDD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919" y="2886389"/>
            <a:ext cx="6426081" cy="264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66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31E7-E17F-52D8-A860-E31F6141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1E46A-C431-3A43-3290-DB47B3A52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6882C-C162-DE7F-04ED-418C5570B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08027"/>
          </a:xfrm>
        </p:spPr>
        <p:txBody>
          <a:bodyPr>
            <a:normAutofit/>
          </a:bodyPr>
          <a:lstStyle/>
          <a:p>
            <a:r>
              <a:rPr lang="en-US" dirty="0"/>
              <a:t>Let’s try to implement the </a:t>
            </a:r>
            <a:r>
              <a:rPr lang="en-US" dirty="0">
                <a:hlinkClick r:id="rId2"/>
              </a:rPr>
              <a:t>REST API </a:t>
            </a:r>
            <a:r>
              <a:rPr lang="en-US" dirty="0"/>
              <a:t>that we designed last time for the mini-twitter project</a:t>
            </a:r>
          </a:p>
          <a:p>
            <a:r>
              <a:rPr lang="en-US" dirty="0"/>
              <a:t>For now, we can use </a:t>
            </a:r>
            <a:r>
              <a:rPr lang="en-US" dirty="0" err="1"/>
              <a:t>javascripts</a:t>
            </a:r>
            <a:r>
              <a:rPr lang="en-US" dirty="0"/>
              <a:t> arrays to store the data</a:t>
            </a:r>
          </a:p>
        </p:txBody>
      </p:sp>
    </p:spTree>
    <p:extLst>
      <p:ext uri="{BB962C8B-B14F-4D97-AF65-F5344CB8AC3E}">
        <p14:creationId xmlns:p14="http://schemas.microsoft.com/office/powerpoint/2010/main" val="1565855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F3EFA-2614-D88E-67F1-4A5D1703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7D08F-6970-1B53-79AB-3055526A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33" y="334903"/>
            <a:ext cx="10515600" cy="1325563"/>
          </a:xfrm>
        </p:spPr>
        <p:txBody>
          <a:bodyPr/>
          <a:lstStyle/>
          <a:p>
            <a:r>
              <a:rPr lang="en-US" dirty="0"/>
              <a:t>Example for the POST /posts endpoint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0D75C-FADD-1F19-33E7-B6E8AC81B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708" y="1308550"/>
            <a:ext cx="7030159" cy="54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98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17E7D-228B-1F29-BFDF-B3EA7D55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89A8C-ADE9-D1A0-481C-2580E5A2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CDDF-B999-F967-31F1-C7D3B4BDE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08027"/>
          </a:xfrm>
        </p:spPr>
        <p:txBody>
          <a:bodyPr>
            <a:normAutofit/>
          </a:bodyPr>
          <a:lstStyle/>
          <a:p>
            <a:r>
              <a:rPr lang="en-US" dirty="0"/>
              <a:t>Implement the remaining endpoints in the </a:t>
            </a:r>
            <a:r>
              <a:rPr lang="en-US" dirty="0">
                <a:hlinkClick r:id="rId2"/>
              </a:rPr>
              <a:t>REST API</a:t>
            </a:r>
            <a:r>
              <a:rPr lang="en-US" dirty="0"/>
              <a:t> using </a:t>
            </a:r>
            <a:r>
              <a:rPr lang="en-US" dirty="0" err="1"/>
              <a:t>javascript</a:t>
            </a:r>
            <a:r>
              <a:rPr lang="en-US" dirty="0"/>
              <a:t> arrays and objects for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3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1095</Words>
  <Application>Microsoft Office PowerPoint</Application>
  <PresentationFormat>Widescreen</PresentationFormat>
  <Paragraphs>128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Web Development</vt:lpstr>
      <vt:lpstr>Servers &amp; Nodejs</vt:lpstr>
      <vt:lpstr>Agenda</vt:lpstr>
      <vt:lpstr>Recap</vt:lpstr>
      <vt:lpstr>Nodejs – Basics </vt:lpstr>
      <vt:lpstr>Nodejs – Basics </vt:lpstr>
      <vt:lpstr>Nodejs – Basics </vt:lpstr>
      <vt:lpstr>Nodejs – Basics </vt:lpstr>
      <vt:lpstr>Nodejs – Basics </vt:lpstr>
      <vt:lpstr>Nodejs – Concurrency </vt:lpstr>
      <vt:lpstr>Nodejs – Concurrency</vt:lpstr>
      <vt:lpstr>Nodejs – Concurrency</vt:lpstr>
      <vt:lpstr>Nodejs – Concurrency</vt:lpstr>
      <vt:lpstr>Nodejs – Concurrency</vt:lpstr>
      <vt:lpstr>Nodejs – Concurrency</vt:lpstr>
      <vt:lpstr>Nodejs – Concurrency</vt:lpstr>
      <vt:lpstr>Nodejs – Concurrency</vt:lpstr>
      <vt:lpstr>Nodejs – Concurrency</vt:lpstr>
      <vt:lpstr>Nodejs – Concurrency</vt:lpstr>
      <vt:lpstr>Nodejs – Concurrency</vt:lpstr>
      <vt:lpstr>What are servers</vt:lpstr>
      <vt:lpstr>What are servers</vt:lpstr>
      <vt:lpstr>Express</vt:lpstr>
      <vt:lpstr>Express</vt:lpstr>
      <vt:lpstr>Express</vt:lpstr>
      <vt:lpstr>Express</vt:lpstr>
      <vt:lpstr>Express</vt:lpstr>
      <vt:lpstr>Express</vt:lpstr>
      <vt:lpstr>Example for the POST /posts endpoint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Mina Shawkat Shaker Gerges 20P9476</dc:creator>
  <cp:lastModifiedBy>Hamdy  Osama Mohammed El-Sayed Farag</cp:lastModifiedBy>
  <cp:revision>1</cp:revision>
  <dcterms:created xsi:type="dcterms:W3CDTF">2025-11-16T08:36:56Z</dcterms:created>
  <dcterms:modified xsi:type="dcterms:W3CDTF">2025-11-24T09:16:23Z</dcterms:modified>
</cp:coreProperties>
</file>