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dy  Osama Mohammed El-Sayed Farag" userId="ce30e293-d0d5-48cf-89a7-3adfd3b27b58" providerId="ADAL" clId="{6ED7B234-E96D-48DF-8D42-FA690BF8F431}"/>
    <pc:docChg chg="undo custSel modSld">
      <pc:chgData name="Hamdy  Osama Mohammed El-Sayed Farag" userId="ce30e293-d0d5-48cf-89a7-3adfd3b27b58" providerId="ADAL" clId="{6ED7B234-E96D-48DF-8D42-FA690BF8F431}" dt="2025-12-08T11:59:45.108" v="72" actId="1038"/>
      <pc:docMkLst>
        <pc:docMk/>
      </pc:docMkLst>
      <pc:sldChg chg="modSp mod">
        <pc:chgData name="Hamdy  Osama Mohammed El-Sayed Farag" userId="ce30e293-d0d5-48cf-89a7-3adfd3b27b58" providerId="ADAL" clId="{6ED7B234-E96D-48DF-8D42-FA690BF8F431}" dt="2025-12-08T11:55:51.061" v="10" actId="14100"/>
        <pc:sldMkLst>
          <pc:docMk/>
          <pc:sldMk cId="0" sldId="269"/>
        </pc:sldMkLst>
        <pc:picChg chg="mod">
          <ac:chgData name="Hamdy  Osama Mohammed El-Sayed Farag" userId="ce30e293-d0d5-48cf-89a7-3adfd3b27b58" providerId="ADAL" clId="{6ED7B234-E96D-48DF-8D42-FA690BF8F431}" dt="2025-12-08T11:55:33.204" v="8" actId="14100"/>
          <ac:picMkLst>
            <pc:docMk/>
            <pc:sldMk cId="0" sldId="269"/>
            <ac:picMk id="133" creationId="{00000000-0000-0000-0000-000000000000}"/>
          </ac:picMkLst>
        </pc:picChg>
        <pc:picChg chg="mod">
          <ac:chgData name="Hamdy  Osama Mohammed El-Sayed Farag" userId="ce30e293-d0d5-48cf-89a7-3adfd3b27b58" providerId="ADAL" clId="{6ED7B234-E96D-48DF-8D42-FA690BF8F431}" dt="2025-12-08T11:55:51.061" v="10" actId="14100"/>
          <ac:picMkLst>
            <pc:docMk/>
            <pc:sldMk cId="0" sldId="269"/>
            <ac:picMk id="134" creationId="{00000000-0000-0000-0000-000000000000}"/>
          </ac:picMkLst>
        </pc:picChg>
      </pc:sldChg>
      <pc:sldChg chg="modSp mod">
        <pc:chgData name="Hamdy  Osama Mohammed El-Sayed Farag" userId="ce30e293-d0d5-48cf-89a7-3adfd3b27b58" providerId="ADAL" clId="{6ED7B234-E96D-48DF-8D42-FA690BF8F431}" dt="2025-12-08T11:58:43.684" v="14" actId="1076"/>
        <pc:sldMkLst>
          <pc:docMk/>
          <pc:sldMk cId="0" sldId="270"/>
        </pc:sldMkLst>
        <pc:picChg chg="mod">
          <ac:chgData name="Hamdy  Osama Mohammed El-Sayed Farag" userId="ce30e293-d0d5-48cf-89a7-3adfd3b27b58" providerId="ADAL" clId="{6ED7B234-E96D-48DF-8D42-FA690BF8F431}" dt="2025-12-08T11:58:43.684" v="14" actId="1076"/>
          <ac:picMkLst>
            <pc:docMk/>
            <pc:sldMk cId="0" sldId="270"/>
            <ac:picMk id="141" creationId="{00000000-0000-0000-0000-000000000000}"/>
          </ac:picMkLst>
        </pc:picChg>
      </pc:sldChg>
      <pc:sldChg chg="modSp mod">
        <pc:chgData name="Hamdy  Osama Mohammed El-Sayed Farag" userId="ce30e293-d0d5-48cf-89a7-3adfd3b27b58" providerId="ADAL" clId="{6ED7B234-E96D-48DF-8D42-FA690BF8F431}" dt="2025-12-08T11:59:45.108" v="72" actId="1038"/>
        <pc:sldMkLst>
          <pc:docMk/>
          <pc:sldMk cId="0" sldId="271"/>
        </pc:sldMkLst>
        <pc:picChg chg="mod">
          <ac:chgData name="Hamdy  Osama Mohammed El-Sayed Farag" userId="ce30e293-d0d5-48cf-89a7-3adfd3b27b58" providerId="ADAL" clId="{6ED7B234-E96D-48DF-8D42-FA690BF8F431}" dt="2025-12-08T11:59:10.548" v="16" actId="14100"/>
          <ac:picMkLst>
            <pc:docMk/>
            <pc:sldMk cId="0" sldId="271"/>
            <ac:picMk id="148" creationId="{00000000-0000-0000-0000-000000000000}"/>
          </ac:picMkLst>
        </pc:picChg>
        <pc:picChg chg="mod">
          <ac:chgData name="Hamdy  Osama Mohammed El-Sayed Farag" userId="ce30e293-d0d5-48cf-89a7-3adfd3b27b58" providerId="ADAL" clId="{6ED7B234-E96D-48DF-8D42-FA690BF8F431}" dt="2025-12-08T11:59:45.108" v="72" actId="1038"/>
          <ac:picMkLst>
            <pc:docMk/>
            <pc:sldMk cId="0" sldId="271"/>
            <ac:picMk id="149" creationId="{00000000-0000-0000-0000-000000000000}"/>
          </ac:picMkLst>
        </pc:picChg>
      </pc:sldChg>
      <pc:sldChg chg="modSp mod">
        <pc:chgData name="Hamdy  Osama Mohammed El-Sayed Farag" userId="ce30e293-d0d5-48cf-89a7-3adfd3b27b58" providerId="ADAL" clId="{6ED7B234-E96D-48DF-8D42-FA690BF8F431}" dt="2025-12-08T08:49:28.988" v="6" actId="14100"/>
        <pc:sldMkLst>
          <pc:docMk/>
          <pc:sldMk cId="0" sldId="282"/>
        </pc:sldMkLst>
        <pc:picChg chg="mod ord">
          <ac:chgData name="Hamdy  Osama Mohammed El-Sayed Farag" userId="ce30e293-d0d5-48cf-89a7-3adfd3b27b58" providerId="ADAL" clId="{6ED7B234-E96D-48DF-8D42-FA690BF8F431}" dt="2025-12-08T08:48:47.697" v="2" actId="14100"/>
          <ac:picMkLst>
            <pc:docMk/>
            <pc:sldMk cId="0" sldId="282"/>
            <ac:picMk id="214" creationId="{00000000-0000-0000-0000-000000000000}"/>
          </ac:picMkLst>
        </pc:picChg>
        <pc:picChg chg="mod ord">
          <ac:chgData name="Hamdy  Osama Mohammed El-Sayed Farag" userId="ce30e293-d0d5-48cf-89a7-3adfd3b27b58" providerId="ADAL" clId="{6ED7B234-E96D-48DF-8D42-FA690BF8F431}" dt="2025-12-08T08:49:28.988" v="6" actId="14100"/>
          <ac:picMkLst>
            <pc:docMk/>
            <pc:sldMk cId="0" sldId="282"/>
            <ac:picMk id="21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cd9ffaee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cd9ffaee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acd9ffaee7_1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acd9ffaee7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cd9ffaee7_1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d9ffaee7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acd9ffaee7_1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acd9ffaee7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acd9ffaee7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acd9ffaee7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cd9ffaee7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acd9ffaee7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acd9ffaee7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acd9ffaee7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cd9ffaee7_2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cd9ffaee7_2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cd9ffaee7_2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cd9ffaee7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ad79f14711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ad79f1471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ad79f14711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ad79f1471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d79f14711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ad79f14711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d79f14711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d79f14711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d79f14711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d79f14711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ad79f14711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ad79f14711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cd9ffaee7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acd9ffaee7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cd9ffaee7_2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cd9ffaee7_2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acd9ffaee7_2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acd9ffaee7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acd9ffaee7_2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acd9ffaee7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ad21204d0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ad21204d0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acd9ffaee7_2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acd9ffaee7_2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ad21204d0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ad21204d0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ad21204d00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ad21204d0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ad21204d00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ad21204d0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ad21204d0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ad21204d0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d21204d0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ad21204d0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d79f14711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ad79f1471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d79f14711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ad79f1471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d79f14711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ad79f1471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ad79f14711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ad79f1471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acd9ffaee7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acd9ffaee7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ad79f14711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ad79f14711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d79f14711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ad79f1471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ad79f14711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ad79f14711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ad79f14711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ad79f14711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localhost:3000"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myawesomeapp.com"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ws.amazon.com/free/"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cs.docker.com/desktop/setup/install/windows-install/"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hyperlink" Target="http://readme.docker.md"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Web Development</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a:t>CSE343</a:t>
            </a:r>
            <a:endParaRPr/>
          </a:p>
          <a:p>
            <a:pPr marL="0" lvl="0" indent="0" algn="ctr" rtl="0">
              <a:spcBef>
                <a:spcPts val="0"/>
              </a:spcBef>
              <a:spcAft>
                <a:spcPts val="0"/>
              </a:spcAft>
              <a:buNone/>
            </a:pPr>
            <a:r>
              <a:rPr lang="en"/>
              <a:t>Lab 10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Intro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We’ve Done So Far</a:t>
            </a:r>
            <a:endParaRPr/>
          </a:p>
        </p:txBody>
      </p:sp>
      <p:sp>
        <p:nvSpPr>
          <p:cNvPr id="66" name="Google Shape;6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Until this point, we've built a complete full-stack web application:</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We built our frontend – the user interface displayed to the user, created with </a:t>
            </a:r>
            <a:r>
              <a:rPr lang="en" sz="1400">
                <a:solidFill>
                  <a:srgbClr val="FF0000"/>
                </a:solidFill>
              </a:rPr>
              <a:t>React</a:t>
            </a:r>
            <a:r>
              <a:rPr lang="en" sz="1400">
                <a:solidFill>
                  <a:schemeClr val="dk1"/>
                </a:solidFill>
              </a:rPr>
              <a:t>, handling user interactions and presenting data in a clean, responsive way.</a:t>
            </a:r>
            <a:endParaRPr>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We built our backend – the server-side logic using </a:t>
            </a:r>
            <a:r>
              <a:rPr lang="en" sz="1400">
                <a:solidFill>
                  <a:srgbClr val="FF0000"/>
                </a:solidFill>
              </a:rPr>
              <a:t>Node.js</a:t>
            </a:r>
            <a:r>
              <a:rPr lang="en" sz="1400">
                <a:solidFill>
                  <a:schemeClr val="dk1"/>
                </a:solidFill>
              </a:rPr>
              <a:t> and </a:t>
            </a:r>
            <a:r>
              <a:rPr lang="en" sz="1400">
                <a:solidFill>
                  <a:srgbClr val="FF0000"/>
                </a:solidFill>
              </a:rPr>
              <a:t>Express.js</a:t>
            </a:r>
            <a:r>
              <a:rPr lang="en" sz="1400">
                <a:solidFill>
                  <a:schemeClr val="dk1"/>
                </a:solidFill>
              </a:rPr>
              <a:t>, which processes requests, handles business logic, and communicates between the frontend and database.</a:t>
            </a:r>
            <a:endParaRPr>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We added a database – </a:t>
            </a:r>
            <a:r>
              <a:rPr lang="en" sz="1400">
                <a:solidFill>
                  <a:srgbClr val="FF0000"/>
                </a:solidFill>
              </a:rPr>
              <a:t>MongoDB</a:t>
            </a:r>
            <a:r>
              <a:rPr lang="en" sz="1400">
                <a:solidFill>
                  <a:schemeClr val="dk1"/>
                </a:solidFill>
              </a:rPr>
              <a:t> – to persist and manage our application's data, allowing us to store, retrieve, update, and delete information.</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Now, the next step is to take our application from our local development environment and make it accessible to the world!</a:t>
            </a:r>
            <a:endParaRPr sz="1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Local Development</a:t>
            </a:r>
            <a:endParaRPr/>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dirty="0">
                <a:solidFill>
                  <a:schemeClr val="dk1"/>
                </a:solidFill>
              </a:rPr>
              <a:t>Right now, your application runs on your computer (localhost). When you start your:</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Frontend (React) – it runs on </a:t>
            </a:r>
            <a:r>
              <a:rPr lang="en" sz="1400" u="sng" dirty="0">
                <a:solidFill>
                  <a:schemeClr val="hlink"/>
                </a:solidFill>
                <a:hlinkClick r:id="rId3"/>
              </a:rPr>
              <a:t>http://localhost:3000</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Backend (Express server) – it runs on http://localhost:5000 (or another port)</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Database (MongoDB) – it runs locally on your machine</a:t>
            </a:r>
            <a:endParaRPr sz="1400" dirty="0">
              <a:solidFill>
                <a:schemeClr val="dk1"/>
              </a:solidFill>
            </a:endParaRPr>
          </a:p>
          <a:p>
            <a:pPr marL="457200" lvl="0" indent="-317500" algn="l" rtl="0">
              <a:spcBef>
                <a:spcPts val="0"/>
              </a:spcBef>
              <a:spcAft>
                <a:spcPts val="0"/>
              </a:spcAft>
              <a:buClr>
                <a:schemeClr val="dk1"/>
              </a:buClr>
              <a:buSzPts val="1400"/>
              <a:buChar char="-"/>
            </a:pPr>
            <a:r>
              <a:rPr lang="en" sz="1400" dirty="0">
                <a:solidFill>
                  <a:schemeClr val="dk1"/>
                </a:solidFill>
              </a:rPr>
              <a:t>The problem? Only YOU can access it. No one else on the internet can see or use your application because it's not publicly accessible – it only exists on your machine.</a:t>
            </a:r>
            <a:endParaRPr sz="1400" dirty="0">
              <a:solidFill>
                <a:schemeClr val="dk1"/>
              </a:solidFill>
            </a:endParaRPr>
          </a:p>
          <a:p>
            <a:pPr marL="457200" lvl="0" indent="-317500" algn="l" rtl="0">
              <a:spcBef>
                <a:spcPts val="0"/>
              </a:spcBef>
              <a:spcAft>
                <a:spcPts val="0"/>
              </a:spcAft>
              <a:buClr>
                <a:schemeClr val="dk1"/>
              </a:buClr>
              <a:buSzPts val="1400"/>
              <a:buChar char="-"/>
            </a:pPr>
            <a:r>
              <a:rPr lang="en" sz="1400" dirty="0">
                <a:solidFill>
                  <a:schemeClr val="dk1"/>
                </a:solidFill>
              </a:rPr>
              <a:t>To make your application available to anyone, anywhere, you need to deploy it.</a:t>
            </a:r>
            <a:endParaRPr sz="14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Deploying your code</a:t>
            </a:r>
            <a:endParaRPr dirty="0"/>
          </a:p>
        </p:txBody>
      </p:sp>
      <p:sp>
        <p:nvSpPr>
          <p:cNvPr id="78" name="Google Shape;78;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dirty="0">
                <a:solidFill>
                  <a:schemeClr val="dk1"/>
                </a:solidFill>
              </a:rPr>
              <a:t>Deployment means:</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Moving your code to a server that's always online</a:t>
            </a:r>
            <a:endParaRPr sz="1400" dirty="0">
              <a:solidFill>
                <a:schemeClr val="dk1"/>
              </a:solidFill>
            </a:endParaRPr>
          </a:p>
          <a:p>
            <a:pPr marL="1371600" lvl="2" indent="-317500" algn="l" rtl="0">
              <a:spcBef>
                <a:spcPts val="0"/>
              </a:spcBef>
              <a:spcAft>
                <a:spcPts val="0"/>
              </a:spcAft>
              <a:buClr>
                <a:schemeClr val="dk1"/>
              </a:buClr>
              <a:buSzPts val="1400"/>
              <a:buChar char="-"/>
            </a:pPr>
            <a:r>
              <a:rPr lang="en" sz="1400" dirty="0">
                <a:solidFill>
                  <a:schemeClr val="dk1"/>
                </a:solidFill>
              </a:rPr>
              <a:t>Unlike your laptop, which you turn off, cloud servers run 24/7</a:t>
            </a:r>
            <a:endParaRPr sz="1400" dirty="0">
              <a:solidFill>
                <a:schemeClr val="dk1"/>
              </a:solidFill>
            </a:endParaRPr>
          </a:p>
          <a:p>
            <a:pPr marL="1371600" lvl="2" indent="-317500" algn="l" rtl="0">
              <a:spcBef>
                <a:spcPts val="0"/>
              </a:spcBef>
              <a:spcAft>
                <a:spcPts val="0"/>
              </a:spcAft>
              <a:buClr>
                <a:schemeClr val="dk1"/>
              </a:buClr>
              <a:buSzPts val="1400"/>
              <a:buChar char="-"/>
            </a:pPr>
            <a:r>
              <a:rPr lang="en" sz="1400" dirty="0">
                <a:solidFill>
                  <a:schemeClr val="dk1"/>
                </a:solidFill>
              </a:rPr>
              <a:t>These servers have public IP addresses that anyone can reach</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Giving your app a real URL</a:t>
            </a:r>
            <a:endParaRPr sz="1400" dirty="0">
              <a:solidFill>
                <a:schemeClr val="dk1"/>
              </a:solidFill>
            </a:endParaRPr>
          </a:p>
          <a:p>
            <a:pPr marL="1371600" lvl="2" indent="-317500" algn="l" rtl="0">
              <a:spcBef>
                <a:spcPts val="0"/>
              </a:spcBef>
              <a:spcAft>
                <a:spcPts val="0"/>
              </a:spcAft>
              <a:buClr>
                <a:schemeClr val="dk1"/>
              </a:buClr>
              <a:buSzPts val="1400"/>
              <a:buChar char="-"/>
            </a:pPr>
            <a:r>
              <a:rPr lang="en" sz="1400" dirty="0">
                <a:solidFill>
                  <a:schemeClr val="dk1"/>
                </a:solidFill>
              </a:rPr>
              <a:t>Instead of localhost:3000, users access something like </a:t>
            </a:r>
            <a:r>
              <a:rPr lang="en" sz="1400" u="sng" dirty="0">
                <a:solidFill>
                  <a:schemeClr val="hlink"/>
                </a:solidFill>
                <a:hlinkClick r:id="rId3"/>
              </a:rPr>
              <a:t>https://myawesomeapp.com</a:t>
            </a:r>
            <a:endParaRPr sz="1400" dirty="0">
              <a:solidFill>
                <a:schemeClr val="dk1"/>
              </a:solidFill>
            </a:endParaRPr>
          </a:p>
          <a:p>
            <a:pPr marL="1371600" lvl="2" indent="-317500" algn="l" rtl="0">
              <a:spcBef>
                <a:spcPts val="0"/>
              </a:spcBef>
              <a:spcAft>
                <a:spcPts val="0"/>
              </a:spcAft>
              <a:buClr>
                <a:schemeClr val="dk1"/>
              </a:buClr>
              <a:buSzPts val="1400"/>
              <a:buChar char="-"/>
            </a:pPr>
            <a:r>
              <a:rPr lang="en" sz="1400" dirty="0">
                <a:solidFill>
                  <a:schemeClr val="dk1"/>
                </a:solidFill>
              </a:rPr>
              <a:t>This requires hosting and potentially a domain name</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Ensuring all parts work together in the cloud</a:t>
            </a:r>
            <a:endParaRPr sz="1400" dirty="0">
              <a:solidFill>
                <a:schemeClr val="dk1"/>
              </a:solidFill>
            </a:endParaRPr>
          </a:p>
          <a:p>
            <a:pPr marL="1371600" lvl="2" indent="-317500" algn="l" rtl="0">
              <a:spcBef>
                <a:spcPts val="0"/>
              </a:spcBef>
              <a:spcAft>
                <a:spcPts val="0"/>
              </a:spcAft>
              <a:buClr>
                <a:schemeClr val="dk1"/>
              </a:buClr>
              <a:buSzPts val="1400"/>
              <a:buChar char="-"/>
            </a:pPr>
            <a:r>
              <a:rPr lang="en" sz="1400" dirty="0">
                <a:solidFill>
                  <a:schemeClr val="dk1"/>
                </a:solidFill>
              </a:rPr>
              <a:t>Your frontend needs to be hosted (e.g., on AWS S3, Firebase Hosting)</a:t>
            </a:r>
            <a:endParaRPr sz="1400" dirty="0">
              <a:solidFill>
                <a:schemeClr val="dk1"/>
              </a:solidFill>
            </a:endParaRPr>
          </a:p>
          <a:p>
            <a:pPr marL="1371600" lvl="2" indent="-317500" algn="l" rtl="0">
              <a:spcBef>
                <a:spcPts val="0"/>
              </a:spcBef>
              <a:spcAft>
                <a:spcPts val="0"/>
              </a:spcAft>
              <a:buClr>
                <a:schemeClr val="dk1"/>
              </a:buClr>
              <a:buSzPts val="1400"/>
              <a:buChar char="-"/>
            </a:pPr>
            <a:r>
              <a:rPr lang="en" sz="1400" dirty="0">
                <a:solidFill>
                  <a:schemeClr val="dk1"/>
                </a:solidFill>
              </a:rPr>
              <a:t>Your backend needs to run on a server (e.g., AWS EC2, Heroku)</a:t>
            </a:r>
            <a:endParaRPr sz="1400" dirty="0">
              <a:solidFill>
                <a:schemeClr val="dk1"/>
              </a:solidFill>
            </a:endParaRPr>
          </a:p>
          <a:p>
            <a:pPr marL="1371600" lvl="2" indent="-317500" algn="l" rtl="0">
              <a:spcBef>
                <a:spcPts val="0"/>
              </a:spcBef>
              <a:spcAft>
                <a:spcPts val="0"/>
              </a:spcAft>
              <a:buClr>
                <a:schemeClr val="dk1"/>
              </a:buClr>
              <a:buSzPts val="1400"/>
              <a:buChar char="-"/>
            </a:pPr>
            <a:r>
              <a:rPr lang="en" sz="1400" dirty="0">
                <a:solidFill>
                  <a:schemeClr val="dk1"/>
                </a:solidFill>
              </a:rPr>
              <a:t>Your database needs to be accessible (e.g., MongoDB Atlas, AWS RDS)</a:t>
            </a:r>
            <a:endParaRPr sz="14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AWS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AWS?</a:t>
            </a:r>
            <a:endParaRPr/>
          </a:p>
        </p:txBody>
      </p:sp>
      <p:sp>
        <p:nvSpPr>
          <p:cNvPr id="89" name="Google Shape;89;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Amazon Web Services (AWS) is a cloud computing platform provided by Amazon. It offers over 200 services that help developers build, deploy, and manage applications without needing to own or maintain physical servers.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Think of AWS as renting computing power, storage, and services from Amazon's massive data centers around the world, instead of buying and managing your own servers.</a:t>
            </a:r>
            <a:endParaRPr sz="1400">
              <a:solidFill>
                <a:schemeClr val="dk1"/>
              </a:solidFill>
            </a:endParaRPr>
          </a:p>
        </p:txBody>
      </p:sp>
      <p:pic>
        <p:nvPicPr>
          <p:cNvPr id="90" name="Google Shape;90;p19"/>
          <p:cNvPicPr preferRelativeResize="0"/>
          <p:nvPr/>
        </p:nvPicPr>
        <p:blipFill>
          <a:blip r:embed="rId3">
            <a:alphaModFix/>
          </a:blip>
          <a:stretch>
            <a:fillRect/>
          </a:stretch>
        </p:blipFill>
        <p:spPr>
          <a:xfrm>
            <a:off x="6614506" y="3282501"/>
            <a:ext cx="2064323" cy="13758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Cloud Computing?</a:t>
            </a:r>
            <a:endParaRPr/>
          </a:p>
        </p:txBody>
      </p:sp>
      <p:sp>
        <p:nvSpPr>
          <p:cNvPr id="96" name="Google Shape;9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Before we dive into AWS, let's understand cloud computing:</a:t>
            </a:r>
            <a:endParaRPr sz="1400">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Traditional Way (Before Cloud):</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Companies bought physical servers</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Hired IT staff to maintain them</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Paid for electricity, cooling, security</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If traffic increased, they had to buy MORE servers (expensive and slow)</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Cloud Computing Way</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Rent servers and services from providers like AWS</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Pay only for what you use (like electricity)</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Scale up or down instantly based on demand</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No hardware maintenance needed</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Core AWS Services for Web Development</a:t>
            </a:r>
            <a:endParaRPr/>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292100" algn="l" rtl="0">
              <a:spcBef>
                <a:spcPts val="0"/>
              </a:spcBef>
              <a:spcAft>
                <a:spcPts val="0"/>
              </a:spcAft>
              <a:buClr>
                <a:schemeClr val="dk1"/>
              </a:buClr>
              <a:buSzPts val="1000"/>
              <a:buChar char="-"/>
            </a:pPr>
            <a:r>
              <a:rPr lang="en" sz="1400" dirty="0">
                <a:solidFill>
                  <a:schemeClr val="dk1"/>
                </a:solidFill>
              </a:rPr>
              <a:t>Let's focus on the services most relevant for deploying your web applications:</a:t>
            </a:r>
            <a:endParaRPr sz="1400"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EC2 (Elastic Compute Cloud)</a:t>
            </a:r>
            <a:endParaRPr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S3 (Simple Storage Service)</a:t>
            </a:r>
            <a:endParaRPr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RDS (Relational Database Service)</a:t>
            </a:r>
            <a:endParaRPr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EC2 (Elastic Compute Cloud)</a:t>
            </a:r>
            <a:endParaRPr/>
          </a:p>
        </p:txBody>
      </p:sp>
      <p:sp>
        <p:nvSpPr>
          <p:cNvPr id="108" name="Google Shape;108;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292100" algn="l" rtl="0">
              <a:spcBef>
                <a:spcPts val="0"/>
              </a:spcBef>
              <a:spcAft>
                <a:spcPts val="0"/>
              </a:spcAft>
              <a:buClr>
                <a:schemeClr val="dk1"/>
              </a:buClr>
              <a:buSzPts val="1000"/>
              <a:buChar char="-"/>
            </a:pPr>
            <a:r>
              <a:rPr lang="en" sz="1400">
                <a:solidFill>
                  <a:schemeClr val="dk1"/>
                </a:solidFill>
              </a:rPr>
              <a:t>Amazon EC2 (Elastic Compute Cloud) is AWS's service that provides virtual servers in the cloud.</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Think of EC2 as renting a computer from Amazon that runs 24/7 in their data centers. You can install any software, run any application, and configure it however you want – just like your own physical computer, but in the cloud.</a:t>
            </a:r>
            <a:endParaRPr sz="14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311700" y="2045700"/>
            <a:ext cx="8520600" cy="10521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How to Deploy a simple node js website on AWS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1: Head to AWS</a:t>
            </a:r>
            <a:endParaRPr/>
          </a:p>
        </p:txBody>
      </p:sp>
      <p:sp>
        <p:nvSpPr>
          <p:cNvPr id="119" name="Google Shape;119;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dirty="0">
                <a:solidFill>
                  <a:schemeClr val="dk1"/>
                </a:solidFill>
              </a:rPr>
              <a:t>Head to aws by navigating to this link </a:t>
            </a:r>
            <a:r>
              <a:rPr lang="en" sz="1400" u="sng" dirty="0">
                <a:solidFill>
                  <a:schemeClr val="hlink"/>
                </a:solidFill>
                <a:hlinkClick r:id="rId3"/>
              </a:rPr>
              <a:t>https://aws.amazon.com/free/</a:t>
            </a:r>
            <a:r>
              <a:rPr lang="en" sz="1400" dirty="0">
                <a:solidFill>
                  <a:schemeClr val="dk1"/>
                </a:solidFill>
              </a:rPr>
              <a:t> and create a free aws account</a:t>
            </a:r>
            <a:endParaRPr sz="1400" dirty="0">
              <a:solidFill>
                <a:schemeClr val="dk1"/>
              </a:solidFill>
            </a:endParaRPr>
          </a:p>
          <a:p>
            <a:pPr marL="457200" lvl="0" indent="-317500" algn="l" rtl="0">
              <a:spcBef>
                <a:spcPts val="0"/>
              </a:spcBef>
              <a:spcAft>
                <a:spcPts val="0"/>
              </a:spcAft>
              <a:buClr>
                <a:schemeClr val="dk1"/>
              </a:buClr>
              <a:buSzPts val="1400"/>
              <a:buChar char="-"/>
            </a:pPr>
            <a:r>
              <a:rPr lang="en" sz="1400" dirty="0">
                <a:solidFill>
                  <a:schemeClr val="dk1"/>
                </a:solidFill>
              </a:rPr>
              <a:t>You will need to enter your credit card information. Amazon gives you a free tier that you will not get charged on your credit card with as long as you did not exceed the free tier limit.</a:t>
            </a:r>
            <a:endParaRPr sz="1400"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Step 1: Create an EC2 instance</a:t>
            </a:r>
            <a:endParaRPr dirty="0"/>
          </a:p>
        </p:txBody>
      </p:sp>
      <p:sp>
        <p:nvSpPr>
          <p:cNvPr id="125" name="Google Shape;125;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EC2 as we said is an aws service that allows you to create virtual servers. Amazon calls them instances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You can launch, manage, and resize these instances and you don’t have to worry about managing physical servers. We will use it to host our app</a:t>
            </a:r>
            <a:endParaRPr sz="1400">
              <a:solidFill>
                <a:schemeClr val="dk1"/>
              </a:solidFill>
            </a:endParaRPr>
          </a:p>
        </p:txBody>
      </p:sp>
      <p:pic>
        <p:nvPicPr>
          <p:cNvPr id="126" name="Google Shape;126;p25"/>
          <p:cNvPicPr preferRelativeResize="0"/>
          <p:nvPr/>
        </p:nvPicPr>
        <p:blipFill>
          <a:blip r:embed="rId3">
            <a:alphaModFix/>
          </a:blip>
          <a:stretch>
            <a:fillRect/>
          </a:stretch>
        </p:blipFill>
        <p:spPr>
          <a:xfrm>
            <a:off x="2015488" y="2571746"/>
            <a:ext cx="5113025" cy="1984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1: Create an EC2 instance</a:t>
            </a:r>
            <a:endParaRPr/>
          </a:p>
        </p:txBody>
      </p:sp>
      <p:sp>
        <p:nvSpPr>
          <p:cNvPr id="132" name="Google Shape;132;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Choose the OS that will run on your server</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After that you will choose the instance type of the web server which is how much cpu and memory your server will have</a:t>
            </a:r>
            <a:endParaRPr sz="1400">
              <a:solidFill>
                <a:schemeClr val="dk1"/>
              </a:solidFill>
            </a:endParaRPr>
          </a:p>
        </p:txBody>
      </p:sp>
      <p:pic>
        <p:nvPicPr>
          <p:cNvPr id="133" name="Google Shape;133;p26"/>
          <p:cNvPicPr preferRelativeResize="0"/>
          <p:nvPr/>
        </p:nvPicPr>
        <p:blipFill>
          <a:blip r:embed="rId3">
            <a:alphaModFix/>
          </a:blip>
          <a:stretch>
            <a:fillRect/>
          </a:stretch>
        </p:blipFill>
        <p:spPr>
          <a:xfrm>
            <a:off x="157349" y="2571750"/>
            <a:ext cx="4414651" cy="2333725"/>
          </a:xfrm>
          <a:prstGeom prst="rect">
            <a:avLst/>
          </a:prstGeom>
          <a:noFill/>
          <a:ln>
            <a:noFill/>
          </a:ln>
        </p:spPr>
      </p:pic>
      <p:pic>
        <p:nvPicPr>
          <p:cNvPr id="134" name="Google Shape;134;p26"/>
          <p:cNvPicPr preferRelativeResize="0"/>
          <p:nvPr/>
        </p:nvPicPr>
        <p:blipFill rotWithShape="1">
          <a:blip r:embed="rId4">
            <a:alphaModFix/>
          </a:blip>
          <a:srcRect l="4394" t="24648" r="3668" b="10909"/>
          <a:stretch/>
        </p:blipFill>
        <p:spPr>
          <a:xfrm>
            <a:off x="4640300" y="2848600"/>
            <a:ext cx="4429376" cy="1242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2: Connect to your EC2 instance</a:t>
            </a:r>
            <a:endParaRPr/>
          </a:p>
        </p:txBody>
      </p:sp>
      <p:sp>
        <p:nvSpPr>
          <p:cNvPr id="140" name="Google Shape;140;p27"/>
          <p:cNvSpPr txBox="1">
            <a:spLocks noGrp="1"/>
          </p:cNvSpPr>
          <p:nvPr>
            <p:ph type="body" idx="1"/>
          </p:nvPr>
        </p:nvSpPr>
        <p:spPr>
          <a:xfrm>
            <a:off x="320750" y="1152475"/>
            <a:ext cx="8520600" cy="3834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After successfully creating your instance the next step is connecting to the instance to start navigating in it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There are a number of ways to connect to an instance. But the easy way is to use EC2 Instance Connect. This allows us to SSH into our instance.</a:t>
            </a:r>
            <a:endParaRPr sz="1400">
              <a:solidFill>
                <a:schemeClr val="dk1"/>
              </a:solidFill>
            </a:endParaRPr>
          </a:p>
        </p:txBody>
      </p:sp>
      <p:pic>
        <p:nvPicPr>
          <p:cNvPr id="141" name="Google Shape;141;p27"/>
          <p:cNvPicPr preferRelativeResize="0"/>
          <p:nvPr/>
        </p:nvPicPr>
        <p:blipFill>
          <a:blip r:embed="rId3">
            <a:alphaModFix/>
          </a:blip>
          <a:stretch>
            <a:fillRect/>
          </a:stretch>
        </p:blipFill>
        <p:spPr>
          <a:xfrm>
            <a:off x="1307205" y="2338641"/>
            <a:ext cx="6362163" cy="264813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3: Setting up our website in our instance</a:t>
            </a:r>
            <a:endParaRPr/>
          </a:p>
        </p:txBody>
      </p:sp>
      <p:sp>
        <p:nvSpPr>
          <p:cNvPr id="147" name="Google Shape;147;p28"/>
          <p:cNvSpPr txBox="1">
            <a:spLocks noGrp="1"/>
          </p:cNvSpPr>
          <p:nvPr>
            <p:ph type="body" idx="1"/>
          </p:nvPr>
        </p:nvSpPr>
        <p:spPr>
          <a:xfrm>
            <a:off x="320750" y="1152475"/>
            <a:ext cx="8520600" cy="3834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Now that we have connected to our instance, the next step is to set up our website. This involves running a series of commands. These commands include: installing git, git cloning the repo of your web server, installing nodejs, installing all dependency packages of your server, and finally starting your web app</a:t>
            </a:r>
            <a:endParaRPr sz="1400">
              <a:solidFill>
                <a:schemeClr val="dk1"/>
              </a:solidFill>
            </a:endParaRPr>
          </a:p>
        </p:txBody>
      </p:sp>
      <p:pic>
        <p:nvPicPr>
          <p:cNvPr id="148" name="Google Shape;148;p28"/>
          <p:cNvPicPr preferRelativeResize="0"/>
          <p:nvPr/>
        </p:nvPicPr>
        <p:blipFill rotWithShape="1">
          <a:blip r:embed="rId3">
            <a:alphaModFix/>
          </a:blip>
          <a:srcRect b="10865"/>
          <a:stretch/>
        </p:blipFill>
        <p:spPr>
          <a:xfrm>
            <a:off x="4994175" y="2026976"/>
            <a:ext cx="3415600" cy="2914626"/>
          </a:xfrm>
          <a:prstGeom prst="rect">
            <a:avLst/>
          </a:prstGeom>
          <a:noFill/>
          <a:ln>
            <a:noFill/>
          </a:ln>
        </p:spPr>
      </p:pic>
      <p:pic>
        <p:nvPicPr>
          <p:cNvPr id="149" name="Google Shape;149;p28"/>
          <p:cNvPicPr preferRelativeResize="0"/>
          <p:nvPr/>
        </p:nvPicPr>
        <p:blipFill rotWithShape="1">
          <a:blip r:embed="rId3">
            <a:alphaModFix/>
          </a:blip>
          <a:srcRect t="88865"/>
          <a:stretch/>
        </p:blipFill>
        <p:spPr>
          <a:xfrm>
            <a:off x="765291" y="3699438"/>
            <a:ext cx="4057451" cy="432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Docker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Docker?</a:t>
            </a:r>
            <a:endParaRPr/>
          </a:p>
        </p:txBody>
      </p:sp>
      <p:sp>
        <p:nvSpPr>
          <p:cNvPr id="160" name="Google Shape;160;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Docker is a platform that allows you to package your application and all its dependencies into a container that can run consistently on any computer, server, or cloud platform.</a:t>
            </a:r>
            <a:endParaRPr sz="1400">
              <a:solidFill>
                <a:schemeClr val="dk1"/>
              </a:solidFill>
            </a:endParaRPr>
          </a:p>
        </p:txBody>
      </p:sp>
      <p:pic>
        <p:nvPicPr>
          <p:cNvPr id="161" name="Google Shape;161;p30"/>
          <p:cNvPicPr preferRelativeResize="0"/>
          <p:nvPr/>
        </p:nvPicPr>
        <p:blipFill>
          <a:blip r:embed="rId3">
            <a:alphaModFix/>
          </a:blip>
          <a:stretch>
            <a:fillRect/>
          </a:stretch>
        </p:blipFill>
        <p:spPr>
          <a:xfrm>
            <a:off x="5708350" y="2795050"/>
            <a:ext cx="2857500" cy="1600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Problem Docker Solves</a:t>
            </a:r>
            <a:endParaRPr/>
          </a:p>
        </p:txBody>
      </p:sp>
      <p:sp>
        <p:nvSpPr>
          <p:cNvPr id="167" name="Google Shape;167;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Docker solves the "It Works on My Machine" Problem</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Imagine the following:</a:t>
            </a:r>
            <a:endParaRPr sz="1400">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You build an app on your laptop: Node.js version 18, MongoDB version 6, Ubuntu Linux OS, with specific libraries and dependencies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Your teammate tries to run it: Node.js version 16 ❌, MongoDB version 5 ❌, Windows OS ❌, Missing dependencies ❌</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Docker solves the problem</a:t>
            </a:r>
            <a:endParaRPr/>
          </a:p>
        </p:txBody>
      </p:sp>
      <p:sp>
        <p:nvSpPr>
          <p:cNvPr id="173" name="Google Shape;173;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With Docker, you package:</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Your application code</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Node.js runtime</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MongoDB</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All dependencies</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Configuration files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Into one container that runs exactly the same on any computer</a:t>
            </a:r>
            <a:endParaRPr sz="14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Key Concepts in Docker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Docker File</a:t>
            </a:r>
            <a:endParaRPr/>
          </a:p>
        </p:txBody>
      </p:sp>
      <p:sp>
        <p:nvSpPr>
          <p:cNvPr id="184" name="Google Shape;184;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rgbClr val="FF0000"/>
                </a:solidFill>
              </a:rPr>
              <a:t>Docker Files</a:t>
            </a:r>
            <a:r>
              <a:rPr lang="en" sz="1400">
                <a:solidFill>
                  <a:schemeClr val="dk1"/>
                </a:solidFill>
              </a:rPr>
              <a:t>:</a:t>
            </a:r>
            <a:endParaRPr sz="1400">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A docker file is a text file with instructions to build a Docker image</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Defines what goes into your container</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This is the starting point for your application</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It contains a series of commands that specify how to run your program. This includes things like:</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Copying directories</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Installing dependencies</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Running your main process in your app</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Think of it as a a step-by-step recipe for building your container environment</a:t>
            </a:r>
            <a:endParaRPr>
              <a:solidFill>
                <a:schemeClr val="dk1"/>
              </a:solidFill>
            </a:endParaRPr>
          </a:p>
          <a:p>
            <a:pPr marL="0" lvl="0" indent="0" algn="l" rtl="0">
              <a:spcBef>
                <a:spcPts val="1200"/>
              </a:spcBef>
              <a:spcAft>
                <a:spcPts val="1200"/>
              </a:spcAft>
              <a:buNone/>
            </a:pP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Docker Image</a:t>
            </a:r>
            <a:endParaRPr/>
          </a:p>
        </p:txBody>
      </p:sp>
      <p:sp>
        <p:nvSpPr>
          <p:cNvPr id="190" name="Google Shape;190;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rgbClr val="FF0000"/>
                </a:solidFill>
              </a:rPr>
              <a:t>Docker Images</a:t>
            </a:r>
            <a:r>
              <a:rPr lang="en" sz="1400">
                <a:solidFill>
                  <a:schemeClr val="dk1"/>
                </a:solidFill>
              </a:rPr>
              <a:t>:</a:t>
            </a:r>
            <a:endParaRPr sz="1400">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After creating your docker file, this docker file is build into an executable package called a Docker Image</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Docker Images include everything needed to run your app including code, runtime (ex. Nodejs, python), libraries, environment variables, and dependencies (npm packages and libraries).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Images usually inherit from a bas image that contains pre-installed dependencies that you can use right away. </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A blueprint or template for creating containers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Contains your app code, runtime, libraries, and dependencies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Read-only (immutable)</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Docker Container</a:t>
            </a:r>
            <a:endParaRPr/>
          </a:p>
        </p:txBody>
      </p:sp>
      <p:sp>
        <p:nvSpPr>
          <p:cNvPr id="196" name="Google Shape;196;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rgbClr val="FF0000"/>
                </a:solidFill>
              </a:rPr>
              <a:t>Docker Container</a:t>
            </a:r>
            <a:r>
              <a:rPr lang="en" sz="1400">
                <a:solidFill>
                  <a:schemeClr val="dk1"/>
                </a:solidFill>
              </a:rPr>
              <a:t>:</a:t>
            </a:r>
            <a:endParaRPr sz="1400">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After creating your docker file, building it into an executable docker image, running this image results in a docker container.</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A docker container is a runnable instance of your docker image</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How to Dockerize your app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1: Install Docker Engine</a:t>
            </a:r>
            <a:endParaRPr/>
          </a:p>
        </p:txBody>
      </p:sp>
      <p:sp>
        <p:nvSpPr>
          <p:cNvPr id="207" name="Google Shape;207;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dirty="0">
                <a:solidFill>
                  <a:schemeClr val="dk1"/>
                </a:solidFill>
              </a:rPr>
              <a:t>Docker Engine is the core technology that actually runs containers. It is the Core Docker runtime. It's the fundamental software that:</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Creates containers</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Manages images</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Handles networking</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Manages storage volumes</a:t>
            </a:r>
            <a:endParaRPr sz="1400" dirty="0">
              <a:solidFill>
                <a:schemeClr val="dk1"/>
              </a:solidFill>
            </a:endParaRPr>
          </a:p>
          <a:p>
            <a:pPr marL="914400" lvl="1" indent="-317500" algn="l" rtl="0">
              <a:spcBef>
                <a:spcPts val="0"/>
              </a:spcBef>
              <a:spcAft>
                <a:spcPts val="0"/>
              </a:spcAft>
              <a:buClr>
                <a:schemeClr val="dk1"/>
              </a:buClr>
              <a:buSzPts val="1400"/>
              <a:buChar char="-"/>
            </a:pPr>
            <a:r>
              <a:rPr lang="en" sz="1400" dirty="0">
                <a:solidFill>
                  <a:schemeClr val="dk1"/>
                </a:solidFill>
              </a:rPr>
              <a:t>Runs on the operating system</a:t>
            </a:r>
            <a:endParaRPr sz="1400" dirty="0">
              <a:solidFill>
                <a:schemeClr val="dk1"/>
              </a:solidFill>
            </a:endParaRPr>
          </a:p>
          <a:p>
            <a:pPr marL="457200" lvl="0" indent="-317500" algn="l" rtl="0">
              <a:spcBef>
                <a:spcPts val="0"/>
              </a:spcBef>
              <a:spcAft>
                <a:spcPts val="0"/>
              </a:spcAft>
              <a:buClr>
                <a:schemeClr val="dk1"/>
              </a:buClr>
              <a:buSzPts val="1400"/>
              <a:buChar char="-"/>
            </a:pPr>
            <a:r>
              <a:rPr lang="en" sz="1400" dirty="0">
                <a:solidFill>
                  <a:schemeClr val="dk1"/>
                </a:solidFill>
              </a:rPr>
              <a:t>Head to </a:t>
            </a:r>
            <a:r>
              <a:rPr lang="en" sz="1400" u="sng" dirty="0">
                <a:solidFill>
                  <a:schemeClr val="hlink"/>
                </a:solidFill>
                <a:hlinkClick r:id="rId3"/>
              </a:rPr>
              <a:t>https://docs.docker.com/desktop/setup/install/windows-install/</a:t>
            </a:r>
            <a:r>
              <a:rPr lang="en" sz="1400" dirty="0">
                <a:solidFill>
                  <a:schemeClr val="dk1"/>
                </a:solidFill>
              </a:rPr>
              <a:t> to download docker desktop on windows to start using docker commands.</a:t>
            </a:r>
            <a:endParaRPr sz="1400" dirty="0">
              <a:solidFill>
                <a:schemeClr val="dk1"/>
              </a:solidFill>
            </a:endParaRPr>
          </a:p>
          <a:p>
            <a:pPr marL="457200" lvl="0" indent="-317500" algn="l" rtl="0">
              <a:spcBef>
                <a:spcPts val="0"/>
              </a:spcBef>
              <a:spcAft>
                <a:spcPts val="0"/>
              </a:spcAft>
              <a:buClr>
                <a:schemeClr val="dk1"/>
              </a:buClr>
              <a:buSzPts val="1400"/>
              <a:buChar char="-"/>
            </a:pPr>
            <a:r>
              <a:rPr lang="en" sz="1400" dirty="0">
                <a:solidFill>
                  <a:schemeClr val="dk1"/>
                </a:solidFill>
              </a:rPr>
              <a:t>Docker desktop is a software that provides a friendly user interface to manage your docker resources.</a:t>
            </a:r>
            <a:endParaRPr sz="1400" dirty="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2: Initialize Docker Project</a:t>
            </a:r>
            <a:endParaRPr/>
          </a:p>
        </p:txBody>
      </p:sp>
      <p:sp>
        <p:nvSpPr>
          <p:cNvPr id="213" name="Google Shape;213;p39"/>
          <p:cNvSpPr txBox="1">
            <a:spLocks noGrp="1"/>
          </p:cNvSpPr>
          <p:nvPr>
            <p:ph type="body" idx="1"/>
          </p:nvPr>
        </p:nvSpPr>
        <p:spPr>
          <a:xfrm>
            <a:off x="86400" y="1152475"/>
            <a:ext cx="89514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We will first use docker –version in vscode terminal to ensure docker is installed successfully</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We will then initialize docker project using the docker init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You will find some questions to answer related to your app</a:t>
            </a:r>
            <a:endParaRPr sz="1400">
              <a:solidFill>
                <a:schemeClr val="dk1"/>
              </a:solidFill>
            </a:endParaRPr>
          </a:p>
        </p:txBody>
      </p:sp>
      <p:pic>
        <p:nvPicPr>
          <p:cNvPr id="214" name="Google Shape;214;p39"/>
          <p:cNvPicPr preferRelativeResize="0"/>
          <p:nvPr/>
        </p:nvPicPr>
        <p:blipFill>
          <a:blip r:embed="rId3">
            <a:alphaModFix/>
          </a:blip>
          <a:stretch>
            <a:fillRect/>
          </a:stretch>
        </p:blipFill>
        <p:spPr>
          <a:xfrm>
            <a:off x="186075" y="2640168"/>
            <a:ext cx="3902967" cy="1972807"/>
          </a:xfrm>
          <a:prstGeom prst="rect">
            <a:avLst/>
          </a:prstGeom>
          <a:noFill/>
          <a:ln>
            <a:noFill/>
          </a:ln>
        </p:spPr>
      </p:pic>
      <p:pic>
        <p:nvPicPr>
          <p:cNvPr id="215" name="Google Shape;215;p39"/>
          <p:cNvPicPr preferRelativeResize="0"/>
          <p:nvPr/>
        </p:nvPicPr>
        <p:blipFill>
          <a:blip r:embed="rId4">
            <a:alphaModFix/>
          </a:blip>
          <a:stretch>
            <a:fillRect/>
          </a:stretch>
        </p:blipFill>
        <p:spPr>
          <a:xfrm>
            <a:off x="4507606" y="2640167"/>
            <a:ext cx="4444120" cy="197280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2: Initialize Docker Project</a:t>
            </a:r>
            <a:endParaRPr/>
          </a:p>
        </p:txBody>
      </p:sp>
      <p:sp>
        <p:nvSpPr>
          <p:cNvPr id="221" name="Google Shape;221;p40"/>
          <p:cNvSpPr txBox="1">
            <a:spLocks noGrp="1"/>
          </p:cNvSpPr>
          <p:nvPr>
            <p:ph type="body" idx="1"/>
          </p:nvPr>
        </p:nvSpPr>
        <p:spPr>
          <a:xfrm>
            <a:off x="86400" y="1152475"/>
            <a:ext cx="49773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When you run docker init, Docker generates several files to help you containerize your application.You will find the following files created after initialization:</a:t>
            </a:r>
            <a:endParaRPr sz="1400">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.dockerignore -&gt; A file that tells Docker which files/folders to exclude when building an image.</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Dockerfile -&gt; A text file with instructions to build a Docker image.</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Compose.yaml -&gt; A YAML file that defines and runs multi-container Docker applications.</a:t>
            </a:r>
            <a:endParaRPr>
              <a:solidFill>
                <a:schemeClr val="dk1"/>
              </a:solidFill>
            </a:endParaRPr>
          </a:p>
          <a:p>
            <a:pPr marL="914400" lvl="1" indent="-317500" algn="l" rtl="0">
              <a:spcBef>
                <a:spcPts val="0"/>
              </a:spcBef>
              <a:spcAft>
                <a:spcPts val="0"/>
              </a:spcAft>
              <a:buClr>
                <a:schemeClr val="dk1"/>
              </a:buClr>
              <a:buSzPts val="1400"/>
              <a:buChar char="-"/>
            </a:pPr>
            <a:r>
              <a:rPr lang="en" u="sng">
                <a:solidFill>
                  <a:schemeClr val="hlink"/>
                </a:solidFill>
                <a:hlinkClick r:id="rId3"/>
              </a:rPr>
              <a:t>README.Docker.md</a:t>
            </a:r>
            <a:r>
              <a:rPr lang="en">
                <a:solidFill>
                  <a:schemeClr val="dk1"/>
                </a:solidFill>
              </a:rPr>
              <a:t> -&gt; Documentation file with instructions on how to use the generated Docker files.</a:t>
            </a:r>
            <a:endParaRPr sz="1400">
              <a:solidFill>
                <a:schemeClr val="dk1"/>
              </a:solidFill>
            </a:endParaRPr>
          </a:p>
        </p:txBody>
      </p:sp>
      <p:pic>
        <p:nvPicPr>
          <p:cNvPr id="222" name="Google Shape;222;p40"/>
          <p:cNvPicPr preferRelativeResize="0"/>
          <p:nvPr/>
        </p:nvPicPr>
        <p:blipFill>
          <a:blip r:embed="rId4">
            <a:alphaModFix/>
          </a:blip>
          <a:stretch>
            <a:fillRect/>
          </a:stretch>
        </p:blipFill>
        <p:spPr>
          <a:xfrm>
            <a:off x="5494888" y="1707850"/>
            <a:ext cx="1975425" cy="405900"/>
          </a:xfrm>
          <a:prstGeom prst="rect">
            <a:avLst/>
          </a:prstGeom>
          <a:noFill/>
          <a:ln>
            <a:noFill/>
          </a:ln>
        </p:spPr>
      </p:pic>
      <p:pic>
        <p:nvPicPr>
          <p:cNvPr id="223" name="Google Shape;223;p40"/>
          <p:cNvPicPr preferRelativeResize="0"/>
          <p:nvPr/>
        </p:nvPicPr>
        <p:blipFill>
          <a:blip r:embed="rId5">
            <a:alphaModFix/>
          </a:blip>
          <a:stretch>
            <a:fillRect/>
          </a:stretch>
        </p:blipFill>
        <p:spPr>
          <a:xfrm>
            <a:off x="5494888" y="2113745"/>
            <a:ext cx="1975425" cy="796755"/>
          </a:xfrm>
          <a:prstGeom prst="rect">
            <a:avLst/>
          </a:prstGeom>
          <a:noFill/>
          <a:ln>
            <a:noFill/>
          </a:ln>
        </p:spPr>
      </p:pic>
      <p:pic>
        <p:nvPicPr>
          <p:cNvPr id="224" name="Google Shape;224;p40"/>
          <p:cNvPicPr preferRelativeResize="0"/>
          <p:nvPr/>
        </p:nvPicPr>
        <p:blipFill>
          <a:blip r:embed="rId6">
            <a:alphaModFix/>
          </a:blip>
          <a:stretch>
            <a:fillRect/>
          </a:stretch>
        </p:blipFill>
        <p:spPr>
          <a:xfrm>
            <a:off x="5494882" y="2910495"/>
            <a:ext cx="1975425" cy="35568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3: Creating the DockerFile</a:t>
            </a:r>
            <a:endParaRPr/>
          </a:p>
        </p:txBody>
      </p:sp>
      <p:sp>
        <p:nvSpPr>
          <p:cNvPr id="230" name="Google Shape;230;p41"/>
          <p:cNvSpPr txBox="1">
            <a:spLocks noGrp="1"/>
          </p:cNvSpPr>
          <p:nvPr>
            <p:ph type="body" idx="1"/>
          </p:nvPr>
        </p:nvSpPr>
        <p:spPr>
          <a:xfrm>
            <a:off x="86400" y="1152475"/>
            <a:ext cx="36882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In the dockerfile we need to write instructions that defines how to package your application</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Specifies dependencies and runtime</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Creates reproducible builds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You will see that the docker init command already wrote the instructions we gave it when answering the environment questions</a:t>
            </a:r>
            <a:endParaRPr sz="1400">
              <a:solidFill>
                <a:schemeClr val="dk1"/>
              </a:solidFill>
            </a:endParaRPr>
          </a:p>
        </p:txBody>
      </p:sp>
      <p:pic>
        <p:nvPicPr>
          <p:cNvPr id="231" name="Google Shape;231;p41"/>
          <p:cNvPicPr preferRelativeResize="0"/>
          <p:nvPr/>
        </p:nvPicPr>
        <p:blipFill>
          <a:blip r:embed="rId3">
            <a:alphaModFix/>
          </a:blip>
          <a:stretch>
            <a:fillRect/>
          </a:stretch>
        </p:blipFill>
        <p:spPr>
          <a:xfrm>
            <a:off x="4292375" y="1017725"/>
            <a:ext cx="4426326" cy="4019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4: Building the docker image</a:t>
            </a:r>
            <a:endParaRPr/>
          </a:p>
        </p:txBody>
      </p:sp>
      <p:sp>
        <p:nvSpPr>
          <p:cNvPr id="237" name="Google Shape;237;p42"/>
          <p:cNvSpPr txBox="1">
            <a:spLocks noGrp="1"/>
          </p:cNvSpPr>
          <p:nvPr>
            <p:ph type="body" idx="1"/>
          </p:nvPr>
        </p:nvSpPr>
        <p:spPr>
          <a:xfrm>
            <a:off x="86400" y="1152475"/>
            <a:ext cx="44856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Before running our docker image in a container, we first need to build it.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Make sure your docker desktop engine is running first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For this we will use the docker build command with the -t flag to provide a name for the image</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Docker image is a snapshot of your code at the time you built it. If you change your code, the old image still contains the old code.</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This steps in each line in our docker file to download dependencies.</a:t>
            </a:r>
            <a:endParaRPr sz="1400">
              <a:solidFill>
                <a:schemeClr val="dk1"/>
              </a:solidFill>
            </a:endParaRPr>
          </a:p>
          <a:p>
            <a:pPr marL="457200" lvl="0" indent="-317500" algn="l" rtl="0">
              <a:spcBef>
                <a:spcPts val="0"/>
              </a:spcBef>
              <a:spcAft>
                <a:spcPts val="0"/>
              </a:spcAft>
              <a:buClr>
                <a:schemeClr val="dk1"/>
              </a:buClr>
              <a:buSzPts val="1400"/>
              <a:buChar char="-"/>
            </a:pPr>
            <a:endParaRPr sz="1400">
              <a:solidFill>
                <a:schemeClr val="dk1"/>
              </a:solidFill>
            </a:endParaRPr>
          </a:p>
        </p:txBody>
      </p:sp>
      <p:pic>
        <p:nvPicPr>
          <p:cNvPr id="238" name="Google Shape;238;p42"/>
          <p:cNvPicPr preferRelativeResize="0"/>
          <p:nvPr/>
        </p:nvPicPr>
        <p:blipFill>
          <a:blip r:embed="rId3">
            <a:alphaModFix/>
          </a:blip>
          <a:stretch>
            <a:fillRect/>
          </a:stretch>
        </p:blipFill>
        <p:spPr>
          <a:xfrm>
            <a:off x="4611425" y="1734975"/>
            <a:ext cx="4267200" cy="24799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4: Running your docker image in a container</a:t>
            </a:r>
            <a:endParaRPr/>
          </a:p>
        </p:txBody>
      </p:sp>
      <p:sp>
        <p:nvSpPr>
          <p:cNvPr id="244" name="Google Shape;244;p43"/>
          <p:cNvSpPr txBox="1">
            <a:spLocks noGrp="1"/>
          </p:cNvSpPr>
          <p:nvPr>
            <p:ph type="body" idx="1"/>
          </p:nvPr>
        </p:nvSpPr>
        <p:spPr>
          <a:xfrm>
            <a:off x="358875" y="1152475"/>
            <a:ext cx="85593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To startup a container with your docker image we will use the docker run command</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Your server is now running and you can access it through the web browser</a:t>
            </a:r>
            <a:endParaRPr sz="1400">
              <a:solidFill>
                <a:schemeClr val="dk1"/>
              </a:solidFill>
            </a:endParaRPr>
          </a:p>
        </p:txBody>
      </p:sp>
      <p:pic>
        <p:nvPicPr>
          <p:cNvPr id="245" name="Google Shape;245;p43"/>
          <p:cNvPicPr preferRelativeResize="0"/>
          <p:nvPr/>
        </p:nvPicPr>
        <p:blipFill>
          <a:blip r:embed="rId3">
            <a:alphaModFix/>
          </a:blip>
          <a:stretch>
            <a:fillRect/>
          </a:stretch>
        </p:blipFill>
        <p:spPr>
          <a:xfrm>
            <a:off x="883900" y="2887651"/>
            <a:ext cx="7509251" cy="908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Github Actions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CI/CD</a:t>
            </a:r>
            <a:endParaRPr/>
          </a:p>
        </p:txBody>
      </p:sp>
      <p:sp>
        <p:nvSpPr>
          <p:cNvPr id="256" name="Google Shape;256;p45"/>
          <p:cNvSpPr txBox="1">
            <a:spLocks noGrp="1"/>
          </p:cNvSpPr>
          <p:nvPr>
            <p:ph type="body" idx="1"/>
          </p:nvPr>
        </p:nvSpPr>
        <p:spPr>
          <a:xfrm>
            <a:off x="358875" y="1152475"/>
            <a:ext cx="82335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Before getting into Github Actions, let’s dive into the CI/CD concept.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CI/CD (Continuous Integration/Continuous Delivery) is the practice of automating the manual tasks that we usually have to do when we are deploying our code to production</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Things like:</a:t>
            </a:r>
            <a:endParaRPr sz="1400">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Compiling our code</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Running tests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Uploading code to cloud infrastructure</a:t>
            </a:r>
            <a:endParaRPr>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Automating things not only helps us to save time but it also removes the possibility of human error causing production to be down.</a:t>
            </a:r>
            <a:endParaRPr sz="14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Continuous Integration</a:t>
            </a:r>
            <a:endParaRPr/>
          </a:p>
        </p:txBody>
      </p:sp>
      <p:sp>
        <p:nvSpPr>
          <p:cNvPr id="262" name="Google Shape;262;p46"/>
          <p:cNvSpPr txBox="1">
            <a:spLocks noGrp="1"/>
          </p:cNvSpPr>
          <p:nvPr>
            <p:ph type="body" idx="1"/>
          </p:nvPr>
        </p:nvSpPr>
        <p:spPr>
          <a:xfrm>
            <a:off x="358875" y="1152475"/>
            <a:ext cx="82335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Continuous Integration is the practice of automatically building and testing code whenever developers commit changes to a shared repository. A CI server fetches the latest code, compiles it, runs tests, and reports results. If the build or tests fail, developers receive a notification and fix the issues. When the pipeline succeeds, an artifact is produced and stored for deployment to testing or production environments. CI is typically followed by Continuous Delivery or Continuous Deployment, which automate the release process further.</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When the developer commits any code, an automated process fetches the code, build it and test it and sends a notification if there is any failure. </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This automated process is called continuous integration which includes: Code -&gt; Fetch -&gt; Build -&gt; Test -&gt; Notify -&gt; Feedback -&gt; Code </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 The goal of CI is to detect defects in an early stage so it doesn’t multiply </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 One tool for CI includes Jenkins</a:t>
            </a:r>
            <a:endParaRPr sz="14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Continuous Delivery</a:t>
            </a:r>
            <a:endParaRPr/>
          </a:p>
        </p:txBody>
      </p:sp>
      <p:sp>
        <p:nvSpPr>
          <p:cNvPr id="268" name="Google Shape;268;p47"/>
          <p:cNvSpPr txBox="1">
            <a:spLocks noGrp="1"/>
          </p:cNvSpPr>
          <p:nvPr>
            <p:ph type="body" idx="1"/>
          </p:nvPr>
        </p:nvSpPr>
        <p:spPr>
          <a:xfrm>
            <a:off x="358875" y="1152475"/>
            <a:ext cx="82335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Continuous Delivery is the practice of automatically deploying every code change that passes automated tests and quality checks directly to production, without human intervention. </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The goal is to shorten the release cycle so users get new features, fixes, and improvements as soon as they’re ready and verified.</a:t>
            </a:r>
            <a:endParaRPr sz="14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Github Actions Intro</a:t>
            </a:r>
            <a:endParaRPr/>
          </a:p>
        </p:txBody>
      </p:sp>
      <p:sp>
        <p:nvSpPr>
          <p:cNvPr id="274" name="Google Shape;274;p48"/>
          <p:cNvSpPr txBox="1">
            <a:spLocks noGrp="1"/>
          </p:cNvSpPr>
          <p:nvPr>
            <p:ph type="body" idx="1"/>
          </p:nvPr>
        </p:nvSpPr>
        <p:spPr>
          <a:xfrm>
            <a:off x="358875" y="1152475"/>
            <a:ext cx="8233500" cy="3858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GitHub Actions IS a CI/CD tool!</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It's the engine that powers your CI/CD pipeline.</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GitHub Actions is GitHub's built-in automation platform that allows you to automate your software development workflows directly within your GitHub repository.</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Think of GitHub Actions as a robot assistant that automatically does tasks for you whenever something happens in your code repository.</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Instead of manually doing repetitive tasks, GitHub Actions does them for you automatically.</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For example:</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Someone pushes code → Robot runs tests automatically</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Someone opens a pull request → Robot checks code quality</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You create a release → Robot deploys to production</a:t>
            </a:r>
            <a:endParaRPr sz="1400">
              <a:solidFill>
                <a:schemeClr val="dk1"/>
              </a:solidFill>
            </a:endParaRPr>
          </a:p>
        </p:txBody>
      </p:sp>
      <p:pic>
        <p:nvPicPr>
          <p:cNvPr id="275" name="Google Shape;275;p48"/>
          <p:cNvPicPr preferRelativeResize="0"/>
          <p:nvPr/>
        </p:nvPicPr>
        <p:blipFill>
          <a:blip r:embed="rId3">
            <a:alphaModFix/>
          </a:blip>
          <a:stretch>
            <a:fillRect/>
          </a:stretch>
        </p:blipFill>
        <p:spPr>
          <a:xfrm>
            <a:off x="6372375" y="3767075"/>
            <a:ext cx="1914375" cy="9754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2151</Words>
  <Application>Microsoft Office PowerPoint</Application>
  <PresentationFormat>On-screen Show (16:9)</PresentationFormat>
  <Paragraphs>169</Paragraphs>
  <Slides>36</Slides>
  <Notes>36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36</vt:i4>
      </vt:variant>
    </vt:vector>
  </HeadingPairs>
  <TitlesOfParts>
    <vt:vector size="38" baseType="lpstr">
      <vt:lpstr>Arial</vt:lpstr>
      <vt:lpstr>Simple Light</vt:lpstr>
      <vt:lpstr>Web Development</vt:lpstr>
      <vt:lpstr>Intro</vt:lpstr>
      <vt:lpstr>What We’ve Done So Far</vt:lpstr>
      <vt:lpstr>Local Development</vt:lpstr>
      <vt:lpstr>Deploying your code</vt:lpstr>
      <vt:lpstr>AWS</vt:lpstr>
      <vt:lpstr>What is AWS?</vt:lpstr>
      <vt:lpstr>What is Cloud Computing?</vt:lpstr>
      <vt:lpstr>Core AWS Services for Web Development</vt:lpstr>
      <vt:lpstr>EC2 (Elastic Compute Cloud)</vt:lpstr>
      <vt:lpstr>How to Deploy a simple node js website on AWS</vt:lpstr>
      <vt:lpstr>Step 1: Head to AWS</vt:lpstr>
      <vt:lpstr>Step 1: Create an EC2 instance</vt:lpstr>
      <vt:lpstr>Step 1: Create an EC2 instance</vt:lpstr>
      <vt:lpstr>Step 2: Connect to your EC2 instance</vt:lpstr>
      <vt:lpstr>Step 3: Setting up our website in our instance</vt:lpstr>
      <vt:lpstr>Docker</vt:lpstr>
      <vt:lpstr>What is Docker?</vt:lpstr>
      <vt:lpstr>The Problem Docker Solves</vt:lpstr>
      <vt:lpstr>How Docker solves the problem</vt:lpstr>
      <vt:lpstr>Key Concepts in Docker</vt:lpstr>
      <vt:lpstr>Docker File</vt:lpstr>
      <vt:lpstr>Docker Image</vt:lpstr>
      <vt:lpstr>Docker Container</vt:lpstr>
      <vt:lpstr>How to Dockerize your app</vt:lpstr>
      <vt:lpstr>Step 1: Install Docker Engine</vt:lpstr>
      <vt:lpstr>Step 2: Initialize Docker Project</vt:lpstr>
      <vt:lpstr>Step 2: Initialize Docker Project</vt:lpstr>
      <vt:lpstr>Step 3: Creating the DockerFile</vt:lpstr>
      <vt:lpstr>Step 4: Building the docker image</vt:lpstr>
      <vt:lpstr>Step 4: Running your docker image in a container</vt:lpstr>
      <vt:lpstr>Github Actions</vt:lpstr>
      <vt:lpstr>CI/CD</vt:lpstr>
      <vt:lpstr>Continuous Integration</vt:lpstr>
      <vt:lpstr>Continuous Delivery</vt:lpstr>
      <vt:lpstr>Github Actions Intro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Hamdy  Osama Mohammed El-Sayed Farag</cp:lastModifiedBy>
  <cp:revision>1</cp:revision>
  <dcterms:modified xsi:type="dcterms:W3CDTF">2025-12-08T11:59:54Z</dcterms:modified>
</cp:coreProperties>
</file>